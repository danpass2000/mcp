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8" r:id="rId3"/>
    <p:sldId id="257" r:id="rId4"/>
    <p:sldId id="259" r:id="rId5"/>
    <p:sldId id="260" r:id="rId6"/>
    <p:sldId id="262" r:id="rId7"/>
    <p:sldId id="261" r:id="rId8"/>
    <p:sldId id="263" r:id="rId9"/>
    <p:sldId id="265" r:id="rId10"/>
    <p:sldId id="264" r:id="rId11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8487" autoAdjust="0"/>
  </p:normalViewPr>
  <p:slideViewPr>
    <p:cSldViewPr>
      <p:cViewPr varScale="1">
        <p:scale>
          <a:sx n="109" d="100"/>
          <a:sy n="109" d="100"/>
        </p:scale>
        <p:origin x="-1590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51825B-990A-492F-BE0F-224AB920AFB1}" type="datetimeFigureOut">
              <a:rPr lang="zh-TW" altLang="en-US" smtClean="0"/>
              <a:pPr/>
              <a:t>2025/11/9 Sunday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E3FDE9-257F-4866-A0F8-82987EB986D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https://apisix.apache.org/zh/blog/2025/04/01/embrace-intelligent-api-management-with-ai-and-mcp/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E3FDE9-257F-4866-A0F8-82987EB986D7}" type="slidenum">
              <a:rPr lang="zh-TW" altLang="en-US" smtClean="0"/>
              <a:pPr/>
              <a:t>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https://github.com/modelcontextprotocol/python-sdk</a:t>
            </a:r>
          </a:p>
          <a:p>
            <a:r>
              <a:rPr lang="en-US" altLang="zh-TW" dirty="0" err="1" smtClean="0"/>
              <a:t>uv</a:t>
            </a:r>
            <a:r>
              <a:rPr lang="en-US" altLang="zh-TW" dirty="0" smtClean="0"/>
              <a:t> run </a:t>
            </a:r>
            <a:r>
              <a:rPr lang="en-US" altLang="zh-TW" dirty="0" err="1" smtClean="0"/>
              <a:t>mcp</a:t>
            </a:r>
            <a:r>
              <a:rPr lang="en-US" altLang="zh-TW" dirty="0" smtClean="0"/>
              <a:t> dev server.py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E3FDE9-257F-4866-A0F8-82987EB986D7}" type="slidenum">
              <a:rPr lang="zh-TW" altLang="en-US" smtClean="0"/>
              <a:pPr/>
              <a:t>6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8BBD0-3C94-4CAE-9094-0E79939CCBCA}" type="datetimeFigureOut">
              <a:rPr lang="zh-TW" altLang="en-US" smtClean="0"/>
              <a:pPr/>
              <a:t>2025/11/9 Sunday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56A98-A3F7-4C29-8E72-0328FA2BC241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8BBD0-3C94-4CAE-9094-0E79939CCBCA}" type="datetimeFigureOut">
              <a:rPr lang="zh-TW" altLang="en-US" smtClean="0"/>
              <a:pPr/>
              <a:t>2025/11/9 Sunday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56A98-A3F7-4C29-8E72-0328FA2BC241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8BBD0-3C94-4CAE-9094-0E79939CCBCA}" type="datetimeFigureOut">
              <a:rPr lang="zh-TW" altLang="en-US" smtClean="0"/>
              <a:pPr/>
              <a:t>2025/11/9 Sunday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56A98-A3F7-4C29-8E72-0328FA2BC241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8BBD0-3C94-4CAE-9094-0E79939CCBCA}" type="datetimeFigureOut">
              <a:rPr lang="zh-TW" altLang="en-US" smtClean="0"/>
              <a:pPr/>
              <a:t>2025/11/9 Sunday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56A98-A3F7-4C29-8E72-0328FA2BC241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8BBD0-3C94-4CAE-9094-0E79939CCBCA}" type="datetimeFigureOut">
              <a:rPr lang="zh-TW" altLang="en-US" smtClean="0"/>
              <a:pPr/>
              <a:t>2025/11/9 Sunday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56A98-A3F7-4C29-8E72-0328FA2BC241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8BBD0-3C94-4CAE-9094-0E79939CCBCA}" type="datetimeFigureOut">
              <a:rPr lang="zh-TW" altLang="en-US" smtClean="0"/>
              <a:pPr/>
              <a:t>2025/11/9 Sunday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56A98-A3F7-4C29-8E72-0328FA2BC241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8BBD0-3C94-4CAE-9094-0E79939CCBCA}" type="datetimeFigureOut">
              <a:rPr lang="zh-TW" altLang="en-US" smtClean="0"/>
              <a:pPr/>
              <a:t>2025/11/9 Sunday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56A98-A3F7-4C29-8E72-0328FA2BC241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8BBD0-3C94-4CAE-9094-0E79939CCBCA}" type="datetimeFigureOut">
              <a:rPr lang="zh-TW" altLang="en-US" smtClean="0"/>
              <a:pPr/>
              <a:t>2025/11/9 Sunday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56A98-A3F7-4C29-8E72-0328FA2BC241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8BBD0-3C94-4CAE-9094-0E79939CCBCA}" type="datetimeFigureOut">
              <a:rPr lang="zh-TW" altLang="en-US" smtClean="0"/>
              <a:pPr/>
              <a:t>2025/11/9 Sunday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56A98-A3F7-4C29-8E72-0328FA2BC241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8BBD0-3C94-4CAE-9094-0E79939CCBCA}" type="datetimeFigureOut">
              <a:rPr lang="zh-TW" altLang="en-US" smtClean="0"/>
              <a:pPr/>
              <a:t>2025/11/9 Sunday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56A98-A3F7-4C29-8E72-0328FA2BC241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8BBD0-3C94-4CAE-9094-0E79939CCBCA}" type="datetimeFigureOut">
              <a:rPr lang="zh-TW" altLang="en-US" smtClean="0"/>
              <a:pPr/>
              <a:t>2025/11/9 Sunday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56A98-A3F7-4C29-8E72-0328FA2BC241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C8BBD0-3C94-4CAE-9094-0E79939CCBCA}" type="datetimeFigureOut">
              <a:rPr lang="zh-TW" altLang="en-US" smtClean="0"/>
              <a:pPr/>
              <a:t>2025/11/9 Sunday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556A98-A3F7-4C29-8E72-0328FA2BC241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apisix.apache.org/blog/2025/04/21/host-mcp-server-with-api-gateway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apisix.apache.org/zh/blog/2025/04/01/embrace-intelligent-api-management-with-ai-and-mcp/#%E9%80%9A%E7%94%A8%E6%93%8D%E4%BD%9C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pisix.apache.org/zh/blog/2025/04/01/embrace-intelligent-api-management-with-ai-and-mcp/#%E5%AE%89%E5%85%A8%E9%85%8D%E7%BD%AE" TargetMode="External"/><Relationship Id="rId5" Type="http://schemas.openxmlformats.org/officeDocument/2006/relationships/hyperlink" Target="https://apisix.apache.org/zh/blog/2025/04/01/embrace-intelligent-api-management-with-ai-and-mcp/#%E6%8F%92%E4%BB%B6%E6%93%8D%E4%BD%9C" TargetMode="External"/><Relationship Id="rId4" Type="http://schemas.openxmlformats.org/officeDocument/2006/relationships/hyperlink" Target="https://apisix.apache.org/zh/blog/2025/04/01/embrace-intelligent-api-management-with-ai-and-mcp/#api-%E8%B5%84%E6%BA%90%E6%93%8D%E4%BD%9C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mcp</a:t>
            </a:r>
            <a:r>
              <a:rPr lang="en-US" altLang="zh-TW" dirty="0" smtClean="0"/>
              <a:t>-bridge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756792"/>
          </a:xfrm>
        </p:spPr>
        <p:txBody>
          <a:bodyPr>
            <a:normAutofit fontScale="77500" lnSpcReduction="20000"/>
          </a:bodyPr>
          <a:lstStyle/>
          <a:p>
            <a:r>
              <a:rPr lang="en-US" altLang="zh-TW" dirty="0" smtClean="0"/>
              <a:t>Apache APISIX </a:t>
            </a:r>
            <a:r>
              <a:rPr lang="zh-TW" altLang="en-US" dirty="0" smtClean="0"/>
              <a:t>推出 </a:t>
            </a:r>
            <a:r>
              <a:rPr lang="en-US" altLang="zh-TW" dirty="0" err="1" smtClean="0"/>
              <a:t>mcp</a:t>
            </a:r>
            <a:r>
              <a:rPr lang="en-US" altLang="zh-TW" dirty="0" smtClean="0"/>
              <a:t>-bridge </a:t>
            </a:r>
            <a:r>
              <a:rPr lang="zh-TW" altLang="en-US" dirty="0" smtClean="0"/>
              <a:t>插件</a:t>
            </a:r>
            <a:r>
              <a:rPr lang="en-US" altLang="zh-TW" dirty="0" smtClean="0"/>
              <a:t>,</a:t>
            </a:r>
            <a:r>
              <a:rPr lang="zh-TW" altLang="en-US" dirty="0" smtClean="0"/>
              <a:t>能將基於 </a:t>
            </a:r>
            <a:r>
              <a:rPr lang="en-US" altLang="zh-TW" dirty="0" err="1" smtClean="0"/>
              <a:t>stdio</a:t>
            </a:r>
            <a:r>
              <a:rPr lang="en-US" altLang="zh-TW" dirty="0" smtClean="0"/>
              <a:t> </a:t>
            </a:r>
            <a:r>
              <a:rPr lang="zh-TW" altLang="en-US" dirty="0" smtClean="0"/>
              <a:t>的 </a:t>
            </a:r>
            <a:r>
              <a:rPr lang="en-US" altLang="zh-TW" dirty="0" smtClean="0"/>
              <a:t>MCP </a:t>
            </a:r>
            <a:r>
              <a:rPr lang="zh-TW" altLang="en-US" dirty="0" smtClean="0"/>
              <a:t>伺服器無縫轉換為可擴展的 </a:t>
            </a:r>
            <a:r>
              <a:rPr lang="en-US" altLang="zh-TW" dirty="0" smtClean="0"/>
              <a:t>HTTP SSE </a:t>
            </a:r>
            <a:r>
              <a:rPr lang="zh-TW" altLang="en-US" dirty="0" smtClean="0"/>
              <a:t>服務 </a:t>
            </a:r>
            <a:r>
              <a:rPr lang="en-US" altLang="zh-TW" dirty="0" smtClean="0">
                <a:hlinkClick r:id="rId2"/>
              </a:rPr>
              <a:t>apache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r>
              <a:rPr lang="zh-TW" altLang="en-US" dirty="0" smtClean="0"/>
              <a:t>大多數 </a:t>
            </a:r>
            <a:r>
              <a:rPr lang="en-US" altLang="zh-TW" dirty="0" smtClean="0"/>
              <a:t>MCP </a:t>
            </a:r>
            <a:r>
              <a:rPr lang="zh-TW" altLang="en-US" dirty="0" smtClean="0"/>
              <a:t>伺服器是透過 </a:t>
            </a:r>
            <a:r>
              <a:rPr lang="en-US" altLang="zh-TW" dirty="0" err="1" smtClean="0"/>
              <a:t>stdio</a:t>
            </a:r>
            <a:r>
              <a:rPr lang="en-US" altLang="zh-TW" dirty="0" smtClean="0"/>
              <a:t> </a:t>
            </a:r>
            <a:r>
              <a:rPr lang="zh-TW" altLang="en-US" dirty="0" smtClean="0"/>
              <a:t>實作於本地環境</a:t>
            </a:r>
            <a:r>
              <a:rPr lang="en-US" altLang="zh-TW" dirty="0" smtClean="0"/>
              <a:t>,</a:t>
            </a:r>
            <a:r>
              <a:rPr lang="zh-TW" altLang="en-US" dirty="0" smtClean="0"/>
              <a:t>無法被外部服務和開發者調用</a:t>
            </a:r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539552" y="3717032"/>
            <a:ext cx="756084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b="1" dirty="0" smtClean="0"/>
              <a:t>應用優勢</a:t>
            </a:r>
          </a:p>
          <a:p>
            <a:r>
              <a:rPr lang="zh-TW" altLang="en-US" b="1" dirty="0" smtClean="0"/>
              <a:t>現代化</a:t>
            </a:r>
            <a:r>
              <a:rPr lang="en-US" altLang="zh-TW" dirty="0" smtClean="0"/>
              <a:t>: </a:t>
            </a:r>
            <a:r>
              <a:rPr lang="zh-TW" altLang="en-US" dirty="0" smtClean="0"/>
              <a:t>立即將 </a:t>
            </a:r>
            <a:r>
              <a:rPr lang="en-US" altLang="zh-TW" dirty="0" err="1" smtClean="0"/>
              <a:t>stdio</a:t>
            </a:r>
            <a:r>
              <a:rPr lang="en-US" altLang="zh-TW" dirty="0" smtClean="0"/>
              <a:t> </a:t>
            </a:r>
            <a:r>
              <a:rPr lang="zh-TW" altLang="en-US" dirty="0" smtClean="0"/>
              <a:t>服務轉換為 </a:t>
            </a:r>
            <a:r>
              <a:rPr lang="en-US" altLang="zh-TW" dirty="0" smtClean="0"/>
              <a:t>HTTP SSE API</a:t>
            </a:r>
          </a:p>
          <a:p>
            <a:r>
              <a:rPr lang="zh-TW" altLang="en-US" b="1" dirty="0" smtClean="0"/>
              <a:t>託管管理</a:t>
            </a:r>
            <a:r>
              <a:rPr lang="en-US" altLang="zh-TW" dirty="0" smtClean="0"/>
              <a:t>: </a:t>
            </a:r>
            <a:r>
              <a:rPr lang="zh-TW" altLang="en-US" dirty="0" smtClean="0"/>
              <a:t>統一管理子進程啟動和 </a:t>
            </a:r>
            <a:r>
              <a:rPr lang="en-US" altLang="zh-TW" dirty="0" smtClean="0"/>
              <a:t>IO </a:t>
            </a:r>
            <a:r>
              <a:rPr lang="zh-TW" altLang="en-US" dirty="0" smtClean="0"/>
              <a:t>生命週期</a:t>
            </a:r>
          </a:p>
          <a:p>
            <a:r>
              <a:rPr lang="zh-TW" altLang="en-US" b="1" dirty="0" smtClean="0"/>
              <a:t>可擴展性</a:t>
            </a:r>
            <a:r>
              <a:rPr lang="en-US" altLang="zh-TW" dirty="0" smtClean="0"/>
              <a:t>: </a:t>
            </a:r>
            <a:r>
              <a:rPr lang="zh-TW" altLang="en-US" dirty="0" smtClean="0"/>
              <a:t>支援大規模部署</a:t>
            </a:r>
          </a:p>
          <a:p>
            <a:r>
              <a:rPr lang="zh-TW" altLang="en-US" b="1" dirty="0" smtClean="0"/>
              <a:t>流量控制整合</a:t>
            </a:r>
            <a:r>
              <a:rPr lang="en-US" altLang="zh-TW" dirty="0" smtClean="0"/>
              <a:t>: </a:t>
            </a:r>
            <a:r>
              <a:rPr lang="zh-TW" altLang="en-US" dirty="0" smtClean="0"/>
              <a:t>與 </a:t>
            </a:r>
            <a:r>
              <a:rPr lang="en-US" altLang="zh-TW" dirty="0" smtClean="0"/>
              <a:t>APISIX </a:t>
            </a:r>
            <a:r>
              <a:rPr lang="zh-TW" altLang="en-US" dirty="0" smtClean="0"/>
              <a:t>的身份驗證、限流等插件無縫整合</a:t>
            </a:r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b="1" dirty="0" smtClean="0"/>
              <a:t>APISIX-MCP</a:t>
            </a:r>
            <a:endParaRPr lang="zh-TW" altLang="en-US" b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964703"/>
          </a:xfrm>
        </p:spPr>
        <p:txBody>
          <a:bodyPr/>
          <a:lstStyle/>
          <a:p>
            <a:pPr>
              <a:buNone/>
            </a:pPr>
            <a:r>
              <a:rPr lang="zh-TW" altLang="en-US" b="1" dirty="0" smtClean="0"/>
              <a:t>利用 </a:t>
            </a:r>
            <a:r>
              <a:rPr lang="en-US" altLang="zh-TW" b="1" dirty="0" smtClean="0"/>
              <a:t>AI + MCP </a:t>
            </a:r>
            <a:r>
              <a:rPr lang="zh-TW" altLang="en-US" b="1" dirty="0" smtClean="0"/>
              <a:t>拥抱 </a:t>
            </a:r>
            <a:r>
              <a:rPr lang="en-US" altLang="zh-TW" b="1" dirty="0" smtClean="0"/>
              <a:t>API </a:t>
            </a:r>
            <a:r>
              <a:rPr lang="zh-TW" altLang="en-US" b="1" dirty="0" smtClean="0"/>
              <a:t>智能化管理</a:t>
            </a:r>
            <a:endParaRPr lang="zh-TW" altLang="en-US" dirty="0"/>
          </a:p>
        </p:txBody>
      </p:sp>
      <p:sp>
        <p:nvSpPr>
          <p:cNvPr id="6" name="內容版面配置區 2"/>
          <p:cNvSpPr txBox="1">
            <a:spLocks/>
          </p:cNvSpPr>
          <p:nvPr/>
        </p:nvSpPr>
        <p:spPr>
          <a:xfrm>
            <a:off x="539552" y="2276872"/>
            <a:ext cx="8229600" cy="172819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>
              <a:spcBef>
                <a:spcPct val="20000"/>
              </a:spcBef>
            </a:pPr>
            <a:r>
              <a:rPr lang="zh-TW" altLang="zh-TW" sz="1600" b="1" dirty="0" smtClean="0"/>
              <a:t>APISIX</a:t>
            </a:r>
            <a:r>
              <a:rPr lang="zh-TW" altLang="zh-TW" sz="1600" b="1" dirty="0"/>
              <a:t>-MCP 通过自然语言交互简化 API 管理，支持创建、更新、删除资源，实现自动化工作流和闭环验证，显著降低认知成本，提升运维</a:t>
            </a:r>
            <a:r>
              <a:rPr lang="zh-TW" altLang="zh-TW" sz="1600" b="1" dirty="0" smtClean="0"/>
              <a:t>效率</a:t>
            </a:r>
            <a:endParaRPr lang="en-US" altLang="zh-TW" sz="1600" b="1" dirty="0"/>
          </a:p>
          <a:p>
            <a:pPr lvl="0">
              <a:spcBef>
                <a:spcPct val="20000"/>
              </a:spcBef>
            </a:pPr>
            <a:r>
              <a:rPr lang="zh-CN" altLang="en-US" sz="1600" dirty="0"/>
              <a:t>目前 </a:t>
            </a:r>
            <a:r>
              <a:rPr lang="en-US" altLang="zh-CN" sz="1600" dirty="0"/>
              <a:t>APISIX-MCP </a:t>
            </a:r>
            <a:r>
              <a:rPr lang="zh-CN" altLang="en-US" sz="1600" dirty="0"/>
              <a:t>已经实现下列操作：</a:t>
            </a:r>
            <a:endParaRPr lang="zh-TW" altLang="en-US" sz="1600" b="1" dirty="0"/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611560" y="3193318"/>
            <a:ext cx="5586466" cy="3359854"/>
          </a:xfrm>
          <a:prstGeom prst="rect">
            <a:avLst/>
          </a:prstGeom>
          <a:solidFill>
            <a:srgbClr val="F6F7F8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12696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TW" sz="1000" b="1" i="0" u="none" strike="noStrike" cap="none" normalizeH="0" baseline="0" dirty="0" smtClean="0">
                <a:ln>
                  <a:noFill/>
                </a:ln>
                <a:solidFill>
                  <a:srgbClr val="1C1E21"/>
                </a:solidFill>
                <a:effectLst/>
                <a:latin typeface="Arial" pitchFamily="34" charset="0"/>
                <a:ea typeface="MaisonNeue-Medium"/>
                <a:cs typeface="新細明體" pitchFamily="18" charset="-120"/>
              </a:rPr>
              <a:t>通用操作</a:t>
            </a:r>
            <a:r>
              <a:rPr kumimoji="1" lang="zh-TW" sz="1000" b="1" i="0" u="none" strike="noStrike" cap="none" normalizeH="0" baseline="0" dirty="0" smtClean="0">
                <a:ln>
                  <a:noFill/>
                </a:ln>
                <a:solidFill>
                  <a:srgbClr val="E8433E"/>
                </a:solidFill>
                <a:effectLst/>
                <a:latin typeface="Arial" pitchFamily="34" charset="0"/>
                <a:ea typeface="MaisonNeue-Medium"/>
                <a:cs typeface="新細明體" pitchFamily="18" charset="-120"/>
                <a:hlinkClick r:id="rId3" tooltip="Direct link to heading"/>
              </a:rPr>
              <a:t>​</a:t>
            </a:r>
            <a:endParaRPr kumimoji="1" lang="zh-TW" sz="1000" b="1" i="0" u="none" strike="noStrike" cap="none" normalizeH="0" baseline="0" dirty="0" smtClean="0">
              <a:ln>
                <a:noFill/>
              </a:ln>
              <a:solidFill>
                <a:srgbClr val="1C1E21"/>
              </a:solidFill>
              <a:effectLst/>
              <a:latin typeface="Arial" pitchFamily="34" charset="0"/>
              <a:ea typeface="MaisonNeue-Medium"/>
              <a:cs typeface="新細明體" pitchFamily="18" charset="-120"/>
            </a:endParaRPr>
          </a:p>
          <a:p>
            <a:pPr marL="0" marR="0" lvl="0" indent="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1" lang="zh-TW" altLang="zh-TW" sz="1000" b="0" i="0" u="none" strike="noStrike" cap="none" normalizeH="0" baseline="0" dirty="0" smtClean="0">
                <a:ln>
                  <a:noFill/>
                </a:ln>
                <a:solidFill>
                  <a:srgbClr val="1C1E21"/>
                </a:solidFill>
                <a:effectLst/>
                <a:latin typeface="Arial Unicode MS" pitchFamily="34" charset="-120"/>
                <a:ea typeface="SFMono-Regular"/>
                <a:cs typeface="新細明體" pitchFamily="18" charset="-120"/>
              </a:rPr>
              <a:t>get_resource</a:t>
            </a:r>
            <a:r>
              <a:rPr kumimoji="1" lang="zh-TW" altLang="zh-TW" sz="1000" b="0" i="0" u="none" strike="noStrike" cap="none" normalizeH="0" baseline="0" dirty="0" smtClean="0">
                <a:ln>
                  <a:noFill/>
                </a:ln>
                <a:solidFill>
                  <a:srgbClr val="1C1E21"/>
                </a:solidFill>
                <a:effectLst/>
                <a:latin typeface="Arial" pitchFamily="34" charset="0"/>
                <a:ea typeface="MaisonNeue-Medium"/>
                <a:cs typeface="新細明體" pitchFamily="18" charset="-120"/>
              </a:rPr>
              <a:t>: </a:t>
            </a:r>
            <a:r>
              <a:rPr kumimoji="1" lang="zh-TW" sz="1000" b="0" i="0" u="none" strike="noStrike" cap="none" normalizeH="0" baseline="0" dirty="0" smtClean="0">
                <a:ln>
                  <a:noFill/>
                </a:ln>
                <a:solidFill>
                  <a:srgbClr val="1C1E21"/>
                </a:solidFill>
                <a:effectLst/>
                <a:latin typeface="Arial" pitchFamily="34" charset="0"/>
                <a:ea typeface="MaisonNeue-Medium"/>
                <a:cs typeface="新細明體" pitchFamily="18" charset="-120"/>
              </a:rPr>
              <a:t>按类型检索资源（路由、服务、上游等）</a:t>
            </a:r>
          </a:p>
          <a:p>
            <a:pPr marL="0" marR="0" lvl="0" indent="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1" lang="zh-TW" altLang="zh-TW" sz="1000" b="0" i="0" u="none" strike="noStrike" cap="none" normalizeH="0" baseline="0" dirty="0" smtClean="0">
                <a:ln>
                  <a:noFill/>
                </a:ln>
                <a:solidFill>
                  <a:srgbClr val="1C1E21"/>
                </a:solidFill>
                <a:effectLst/>
                <a:latin typeface="Arial Unicode MS" pitchFamily="34" charset="-120"/>
                <a:ea typeface="SFMono-Regular"/>
                <a:cs typeface="新細明體" pitchFamily="18" charset="-120"/>
              </a:rPr>
              <a:t>delete_resource</a:t>
            </a:r>
            <a:r>
              <a:rPr kumimoji="1" lang="zh-TW" altLang="zh-TW" sz="1000" b="0" i="0" u="none" strike="noStrike" cap="none" normalizeH="0" baseline="0" dirty="0" smtClean="0">
                <a:ln>
                  <a:noFill/>
                </a:ln>
                <a:solidFill>
                  <a:srgbClr val="1C1E21"/>
                </a:solidFill>
                <a:effectLst/>
                <a:latin typeface="Arial" pitchFamily="34" charset="0"/>
                <a:ea typeface="MaisonNeue-Medium"/>
                <a:cs typeface="新細明體" pitchFamily="18" charset="-120"/>
              </a:rPr>
              <a:t>: </a:t>
            </a:r>
            <a:r>
              <a:rPr kumimoji="1" lang="zh-TW" sz="1000" b="0" i="0" u="none" strike="noStrike" cap="none" normalizeH="0" baseline="0" dirty="0" smtClean="0">
                <a:ln>
                  <a:noFill/>
                </a:ln>
                <a:solidFill>
                  <a:srgbClr val="1C1E21"/>
                </a:solidFill>
                <a:effectLst/>
                <a:latin typeface="Arial" pitchFamily="34" charset="0"/>
                <a:ea typeface="MaisonNeue-Medium"/>
                <a:cs typeface="新細明體" pitchFamily="18" charset="-120"/>
              </a:rPr>
              <a:t>按 </a:t>
            </a:r>
            <a:r>
              <a:rPr kumimoji="1" lang="zh-TW" altLang="zh-TW" sz="1000" b="0" i="0" u="none" strike="noStrike" cap="none" normalizeH="0" baseline="0" dirty="0" smtClean="0">
                <a:ln>
                  <a:noFill/>
                </a:ln>
                <a:solidFill>
                  <a:srgbClr val="1C1E21"/>
                </a:solidFill>
                <a:effectLst/>
                <a:latin typeface="Arial" pitchFamily="34" charset="0"/>
                <a:ea typeface="MaisonNeue-Medium"/>
                <a:cs typeface="新細明體" pitchFamily="18" charset="-120"/>
              </a:rPr>
              <a:t>ID </a:t>
            </a:r>
            <a:r>
              <a:rPr kumimoji="1" lang="zh-TW" sz="1000" b="0" i="0" u="none" strike="noStrike" cap="none" normalizeH="0" baseline="0" dirty="0" smtClean="0">
                <a:ln>
                  <a:noFill/>
                </a:ln>
                <a:solidFill>
                  <a:srgbClr val="1C1E21"/>
                </a:solidFill>
                <a:effectLst/>
                <a:latin typeface="Arial" pitchFamily="34" charset="0"/>
                <a:ea typeface="MaisonNeue-Medium"/>
                <a:cs typeface="新細明體" pitchFamily="18" charset="-120"/>
              </a:rPr>
              <a:t>删除资源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TW" altLang="zh-TW" sz="1000" b="1" i="0" u="none" strike="noStrike" cap="none" normalizeH="0" baseline="0" dirty="0" smtClean="0">
                <a:ln>
                  <a:noFill/>
                </a:ln>
                <a:solidFill>
                  <a:srgbClr val="1C1E21"/>
                </a:solidFill>
                <a:effectLst/>
                <a:latin typeface="Arial" pitchFamily="34" charset="0"/>
                <a:ea typeface="MaisonNeue-Medium"/>
                <a:cs typeface="新細明體" pitchFamily="18" charset="-120"/>
              </a:rPr>
              <a:t>API </a:t>
            </a:r>
            <a:r>
              <a:rPr kumimoji="1" lang="zh-TW" sz="1000" b="1" i="0" u="none" strike="noStrike" cap="none" normalizeH="0" baseline="0" dirty="0" smtClean="0">
                <a:ln>
                  <a:noFill/>
                </a:ln>
                <a:solidFill>
                  <a:srgbClr val="1C1E21"/>
                </a:solidFill>
                <a:effectLst/>
                <a:latin typeface="Arial" pitchFamily="34" charset="0"/>
                <a:ea typeface="MaisonNeue-Medium"/>
                <a:cs typeface="新細明體" pitchFamily="18" charset="-120"/>
              </a:rPr>
              <a:t>资源操作</a:t>
            </a:r>
            <a:r>
              <a:rPr kumimoji="1" lang="zh-TW" sz="1000" b="1" i="0" u="none" strike="noStrike" cap="none" normalizeH="0" baseline="0" dirty="0" smtClean="0">
                <a:ln>
                  <a:noFill/>
                </a:ln>
                <a:solidFill>
                  <a:srgbClr val="E8433E"/>
                </a:solidFill>
                <a:effectLst/>
                <a:latin typeface="Arial" pitchFamily="34" charset="0"/>
                <a:ea typeface="MaisonNeue-Medium"/>
                <a:cs typeface="新細明體" pitchFamily="18" charset="-120"/>
                <a:hlinkClick r:id="rId4" tooltip="Direct link to heading"/>
              </a:rPr>
              <a:t>​</a:t>
            </a:r>
            <a:endParaRPr kumimoji="1" lang="zh-TW" sz="1000" b="1" i="0" u="none" strike="noStrike" cap="none" normalizeH="0" baseline="0" dirty="0" smtClean="0">
              <a:ln>
                <a:noFill/>
              </a:ln>
              <a:solidFill>
                <a:srgbClr val="1C1E21"/>
              </a:solidFill>
              <a:effectLst/>
              <a:latin typeface="Arial" pitchFamily="34" charset="0"/>
              <a:ea typeface="MaisonNeue-Medium"/>
              <a:cs typeface="新細明體" pitchFamily="18" charset="-120"/>
            </a:endParaRPr>
          </a:p>
          <a:p>
            <a:pPr marL="0" marR="0" lvl="0" indent="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1" lang="zh-TW" altLang="zh-TW" sz="1000" b="0" i="0" u="none" strike="noStrike" cap="none" normalizeH="0" baseline="0" dirty="0" smtClean="0">
                <a:ln>
                  <a:noFill/>
                </a:ln>
                <a:solidFill>
                  <a:srgbClr val="1C1E21"/>
                </a:solidFill>
                <a:effectLst/>
                <a:latin typeface="Arial Unicode MS" pitchFamily="34" charset="-120"/>
                <a:ea typeface="SFMono-Regular"/>
                <a:cs typeface="新細明體" pitchFamily="18" charset="-120"/>
              </a:rPr>
              <a:t>create_route</a:t>
            </a:r>
            <a:r>
              <a:rPr kumimoji="1" lang="zh-TW" altLang="zh-TW" sz="1000" b="0" i="0" u="none" strike="noStrike" cap="none" normalizeH="0" baseline="0" dirty="0" smtClean="0">
                <a:ln>
                  <a:noFill/>
                </a:ln>
                <a:solidFill>
                  <a:srgbClr val="1C1E21"/>
                </a:solidFill>
                <a:effectLst/>
                <a:latin typeface="Arial" pitchFamily="34" charset="0"/>
                <a:ea typeface="MaisonNeue-Medium"/>
                <a:cs typeface="新細明體" pitchFamily="18" charset="-120"/>
              </a:rPr>
              <a:t>/</a:t>
            </a:r>
            <a:r>
              <a:rPr kumimoji="1" lang="zh-TW" altLang="zh-TW" sz="1000" b="0" i="0" u="none" strike="noStrike" cap="none" normalizeH="0" baseline="0" dirty="0" smtClean="0">
                <a:ln>
                  <a:noFill/>
                </a:ln>
                <a:solidFill>
                  <a:srgbClr val="1C1E21"/>
                </a:solidFill>
                <a:effectLst/>
                <a:latin typeface="Arial Unicode MS" pitchFamily="34" charset="-120"/>
                <a:ea typeface="SFMono-Regular"/>
                <a:cs typeface="新細明體" pitchFamily="18" charset="-120"/>
              </a:rPr>
              <a:t>update_route</a:t>
            </a:r>
            <a:r>
              <a:rPr kumimoji="1" lang="zh-TW" altLang="zh-TW" sz="1000" b="0" i="0" u="none" strike="noStrike" cap="none" normalizeH="0" baseline="0" dirty="0" smtClean="0">
                <a:ln>
                  <a:noFill/>
                </a:ln>
                <a:solidFill>
                  <a:srgbClr val="1C1E21"/>
                </a:solidFill>
                <a:effectLst/>
                <a:latin typeface="Arial" pitchFamily="34" charset="0"/>
                <a:ea typeface="MaisonNeue-Medium"/>
                <a:cs typeface="新細明體" pitchFamily="18" charset="-120"/>
              </a:rPr>
              <a:t>/</a:t>
            </a:r>
            <a:r>
              <a:rPr kumimoji="1" lang="zh-TW" altLang="zh-TW" sz="1000" b="0" i="0" u="none" strike="noStrike" cap="none" normalizeH="0" baseline="0" dirty="0" smtClean="0">
                <a:ln>
                  <a:noFill/>
                </a:ln>
                <a:solidFill>
                  <a:srgbClr val="1C1E21"/>
                </a:solidFill>
                <a:effectLst/>
                <a:latin typeface="Arial Unicode MS" pitchFamily="34" charset="-120"/>
                <a:ea typeface="SFMono-Regular"/>
                <a:cs typeface="新細明體" pitchFamily="18" charset="-120"/>
              </a:rPr>
              <a:t>delete_route</a:t>
            </a:r>
            <a:r>
              <a:rPr kumimoji="1" lang="zh-TW" altLang="zh-TW" sz="1000" b="0" i="0" u="none" strike="noStrike" cap="none" normalizeH="0" baseline="0" dirty="0" smtClean="0">
                <a:ln>
                  <a:noFill/>
                </a:ln>
                <a:solidFill>
                  <a:srgbClr val="1C1E21"/>
                </a:solidFill>
                <a:effectLst/>
                <a:latin typeface="Arial" pitchFamily="34" charset="0"/>
                <a:ea typeface="MaisonNeue-Medium"/>
                <a:cs typeface="新細明體" pitchFamily="18" charset="-120"/>
              </a:rPr>
              <a:t>: </a:t>
            </a:r>
            <a:r>
              <a:rPr kumimoji="1" lang="zh-TW" sz="1000" b="0" i="0" u="none" strike="noStrike" cap="none" normalizeH="0" baseline="0" dirty="0" smtClean="0">
                <a:ln>
                  <a:noFill/>
                </a:ln>
                <a:solidFill>
                  <a:srgbClr val="1C1E21"/>
                </a:solidFill>
                <a:effectLst/>
                <a:latin typeface="Arial" pitchFamily="34" charset="0"/>
                <a:ea typeface="MaisonNeue-Medium"/>
                <a:cs typeface="新細明體" pitchFamily="18" charset="-120"/>
              </a:rPr>
              <a:t>管理路由</a:t>
            </a:r>
          </a:p>
          <a:p>
            <a:pPr marL="0" marR="0" lvl="0" indent="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1" lang="zh-TW" altLang="zh-TW" sz="1000" b="0" i="0" u="none" strike="noStrike" cap="none" normalizeH="0" baseline="0" dirty="0" smtClean="0">
                <a:ln>
                  <a:noFill/>
                </a:ln>
                <a:solidFill>
                  <a:srgbClr val="1C1E21"/>
                </a:solidFill>
                <a:effectLst/>
                <a:latin typeface="Arial Unicode MS" pitchFamily="34" charset="-120"/>
                <a:ea typeface="SFMono-Regular"/>
                <a:cs typeface="新細明體" pitchFamily="18" charset="-120"/>
              </a:rPr>
              <a:t>create_service</a:t>
            </a:r>
            <a:r>
              <a:rPr kumimoji="1" lang="zh-TW" altLang="zh-TW" sz="1000" b="0" i="0" u="none" strike="noStrike" cap="none" normalizeH="0" baseline="0" dirty="0" smtClean="0">
                <a:ln>
                  <a:noFill/>
                </a:ln>
                <a:solidFill>
                  <a:srgbClr val="1C1E21"/>
                </a:solidFill>
                <a:effectLst/>
                <a:latin typeface="Arial" pitchFamily="34" charset="0"/>
                <a:ea typeface="MaisonNeue-Medium"/>
                <a:cs typeface="新細明體" pitchFamily="18" charset="-120"/>
              </a:rPr>
              <a:t>/</a:t>
            </a:r>
            <a:r>
              <a:rPr kumimoji="1" lang="zh-TW" altLang="zh-TW" sz="1000" b="0" i="0" u="none" strike="noStrike" cap="none" normalizeH="0" baseline="0" dirty="0" smtClean="0">
                <a:ln>
                  <a:noFill/>
                </a:ln>
                <a:solidFill>
                  <a:srgbClr val="1C1E21"/>
                </a:solidFill>
                <a:effectLst/>
                <a:latin typeface="Arial Unicode MS" pitchFamily="34" charset="-120"/>
                <a:ea typeface="SFMono-Regular"/>
                <a:cs typeface="新細明體" pitchFamily="18" charset="-120"/>
              </a:rPr>
              <a:t>update_service</a:t>
            </a:r>
            <a:r>
              <a:rPr kumimoji="1" lang="zh-TW" altLang="zh-TW" sz="1000" b="0" i="0" u="none" strike="noStrike" cap="none" normalizeH="0" baseline="0" dirty="0" smtClean="0">
                <a:ln>
                  <a:noFill/>
                </a:ln>
                <a:solidFill>
                  <a:srgbClr val="1C1E21"/>
                </a:solidFill>
                <a:effectLst/>
                <a:latin typeface="Arial" pitchFamily="34" charset="0"/>
                <a:ea typeface="MaisonNeue-Medium"/>
                <a:cs typeface="新細明體" pitchFamily="18" charset="-120"/>
              </a:rPr>
              <a:t>/</a:t>
            </a:r>
            <a:r>
              <a:rPr kumimoji="1" lang="zh-TW" altLang="zh-TW" sz="1000" b="0" i="0" u="none" strike="noStrike" cap="none" normalizeH="0" baseline="0" dirty="0" smtClean="0">
                <a:ln>
                  <a:noFill/>
                </a:ln>
                <a:solidFill>
                  <a:srgbClr val="1C1E21"/>
                </a:solidFill>
                <a:effectLst/>
                <a:latin typeface="Arial Unicode MS" pitchFamily="34" charset="-120"/>
                <a:ea typeface="SFMono-Regular"/>
                <a:cs typeface="新細明體" pitchFamily="18" charset="-120"/>
              </a:rPr>
              <a:t>delete_service</a:t>
            </a:r>
            <a:r>
              <a:rPr kumimoji="1" lang="zh-TW" altLang="zh-TW" sz="1000" b="0" i="0" u="none" strike="noStrike" cap="none" normalizeH="0" baseline="0" dirty="0" smtClean="0">
                <a:ln>
                  <a:noFill/>
                </a:ln>
                <a:solidFill>
                  <a:srgbClr val="1C1E21"/>
                </a:solidFill>
                <a:effectLst/>
                <a:latin typeface="Arial" pitchFamily="34" charset="0"/>
                <a:ea typeface="MaisonNeue-Medium"/>
                <a:cs typeface="新細明體" pitchFamily="18" charset="-120"/>
              </a:rPr>
              <a:t>: </a:t>
            </a:r>
            <a:r>
              <a:rPr kumimoji="1" lang="zh-TW" sz="1000" b="0" i="0" u="none" strike="noStrike" cap="none" normalizeH="0" baseline="0" dirty="0" smtClean="0">
                <a:ln>
                  <a:noFill/>
                </a:ln>
                <a:solidFill>
                  <a:srgbClr val="1C1E21"/>
                </a:solidFill>
                <a:effectLst/>
                <a:latin typeface="Arial" pitchFamily="34" charset="0"/>
                <a:ea typeface="MaisonNeue-Medium"/>
                <a:cs typeface="新細明體" pitchFamily="18" charset="-120"/>
              </a:rPr>
              <a:t>管理服务</a:t>
            </a:r>
          </a:p>
          <a:p>
            <a:pPr marL="0" marR="0" lvl="0" indent="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1" lang="zh-TW" altLang="zh-TW" sz="1000" b="0" i="0" u="none" strike="noStrike" cap="none" normalizeH="0" baseline="0" dirty="0" smtClean="0">
                <a:ln>
                  <a:noFill/>
                </a:ln>
                <a:solidFill>
                  <a:srgbClr val="1C1E21"/>
                </a:solidFill>
                <a:effectLst/>
                <a:latin typeface="Arial Unicode MS" pitchFamily="34" charset="-120"/>
                <a:ea typeface="SFMono-Regular"/>
                <a:cs typeface="新細明體" pitchFamily="18" charset="-120"/>
              </a:rPr>
              <a:t>create_upstream</a:t>
            </a:r>
            <a:r>
              <a:rPr kumimoji="1" lang="zh-TW" altLang="zh-TW" sz="1000" b="0" i="0" u="none" strike="noStrike" cap="none" normalizeH="0" baseline="0" dirty="0" smtClean="0">
                <a:ln>
                  <a:noFill/>
                </a:ln>
                <a:solidFill>
                  <a:srgbClr val="1C1E21"/>
                </a:solidFill>
                <a:effectLst/>
                <a:latin typeface="Arial" pitchFamily="34" charset="0"/>
                <a:ea typeface="MaisonNeue-Medium"/>
                <a:cs typeface="新細明體" pitchFamily="18" charset="-120"/>
              </a:rPr>
              <a:t>/</a:t>
            </a:r>
            <a:r>
              <a:rPr kumimoji="1" lang="zh-TW" altLang="zh-TW" sz="1000" b="0" i="0" u="none" strike="noStrike" cap="none" normalizeH="0" baseline="0" dirty="0" smtClean="0">
                <a:ln>
                  <a:noFill/>
                </a:ln>
                <a:solidFill>
                  <a:srgbClr val="1C1E21"/>
                </a:solidFill>
                <a:effectLst/>
                <a:latin typeface="Arial Unicode MS" pitchFamily="34" charset="-120"/>
                <a:ea typeface="SFMono-Regular"/>
                <a:cs typeface="新細明體" pitchFamily="18" charset="-120"/>
              </a:rPr>
              <a:t>update_upstream</a:t>
            </a:r>
            <a:r>
              <a:rPr kumimoji="1" lang="zh-TW" altLang="zh-TW" sz="1000" b="0" i="0" u="none" strike="noStrike" cap="none" normalizeH="0" baseline="0" dirty="0" smtClean="0">
                <a:ln>
                  <a:noFill/>
                </a:ln>
                <a:solidFill>
                  <a:srgbClr val="1C1E21"/>
                </a:solidFill>
                <a:effectLst/>
                <a:latin typeface="Arial" pitchFamily="34" charset="0"/>
                <a:ea typeface="MaisonNeue-Medium"/>
                <a:cs typeface="新細明體" pitchFamily="18" charset="-120"/>
              </a:rPr>
              <a:t>/</a:t>
            </a:r>
            <a:r>
              <a:rPr kumimoji="1" lang="zh-TW" altLang="zh-TW" sz="1000" b="0" i="0" u="none" strike="noStrike" cap="none" normalizeH="0" baseline="0" dirty="0" smtClean="0">
                <a:ln>
                  <a:noFill/>
                </a:ln>
                <a:solidFill>
                  <a:srgbClr val="1C1E21"/>
                </a:solidFill>
                <a:effectLst/>
                <a:latin typeface="Arial Unicode MS" pitchFamily="34" charset="-120"/>
                <a:ea typeface="SFMono-Regular"/>
                <a:cs typeface="新細明體" pitchFamily="18" charset="-120"/>
              </a:rPr>
              <a:t>delete_upstream</a:t>
            </a:r>
            <a:r>
              <a:rPr kumimoji="1" lang="zh-TW" altLang="zh-TW" sz="1000" b="0" i="0" u="none" strike="noStrike" cap="none" normalizeH="0" baseline="0" dirty="0" smtClean="0">
                <a:ln>
                  <a:noFill/>
                </a:ln>
                <a:solidFill>
                  <a:srgbClr val="1C1E21"/>
                </a:solidFill>
                <a:effectLst/>
                <a:latin typeface="Arial" pitchFamily="34" charset="0"/>
                <a:ea typeface="MaisonNeue-Medium"/>
                <a:cs typeface="新細明體" pitchFamily="18" charset="-120"/>
              </a:rPr>
              <a:t>: </a:t>
            </a:r>
            <a:r>
              <a:rPr kumimoji="1" lang="zh-TW" sz="1000" b="0" i="0" u="none" strike="noStrike" cap="none" normalizeH="0" baseline="0" dirty="0" smtClean="0">
                <a:ln>
                  <a:noFill/>
                </a:ln>
                <a:solidFill>
                  <a:srgbClr val="1C1E21"/>
                </a:solidFill>
                <a:effectLst/>
                <a:latin typeface="Arial" pitchFamily="34" charset="0"/>
                <a:ea typeface="MaisonNeue-Medium"/>
                <a:cs typeface="新細明體" pitchFamily="18" charset="-120"/>
              </a:rPr>
              <a:t>管理上游</a:t>
            </a:r>
          </a:p>
          <a:p>
            <a:pPr marL="0" marR="0" lvl="0" indent="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1" lang="zh-TW" altLang="zh-TW" sz="1000" b="0" i="0" u="none" strike="noStrike" cap="none" normalizeH="0" baseline="0" dirty="0" smtClean="0">
                <a:ln>
                  <a:noFill/>
                </a:ln>
                <a:solidFill>
                  <a:srgbClr val="1C1E21"/>
                </a:solidFill>
                <a:effectLst/>
                <a:latin typeface="Arial Unicode MS" pitchFamily="34" charset="-120"/>
                <a:ea typeface="SFMono-Regular"/>
                <a:cs typeface="新細明體" pitchFamily="18" charset="-120"/>
              </a:rPr>
              <a:t>create_ssl</a:t>
            </a:r>
            <a:r>
              <a:rPr kumimoji="1" lang="zh-TW" altLang="zh-TW" sz="1000" b="0" i="0" u="none" strike="noStrike" cap="none" normalizeH="0" baseline="0" dirty="0" smtClean="0">
                <a:ln>
                  <a:noFill/>
                </a:ln>
                <a:solidFill>
                  <a:srgbClr val="1C1E21"/>
                </a:solidFill>
                <a:effectLst/>
                <a:latin typeface="Arial" pitchFamily="34" charset="0"/>
                <a:ea typeface="MaisonNeue-Medium"/>
                <a:cs typeface="新細明體" pitchFamily="18" charset="-120"/>
              </a:rPr>
              <a:t>/</a:t>
            </a:r>
            <a:r>
              <a:rPr kumimoji="1" lang="zh-TW" altLang="zh-TW" sz="1000" b="0" i="0" u="none" strike="noStrike" cap="none" normalizeH="0" baseline="0" dirty="0" smtClean="0">
                <a:ln>
                  <a:noFill/>
                </a:ln>
                <a:solidFill>
                  <a:srgbClr val="1C1E21"/>
                </a:solidFill>
                <a:effectLst/>
                <a:latin typeface="Arial Unicode MS" pitchFamily="34" charset="-120"/>
                <a:ea typeface="SFMono-Regular"/>
                <a:cs typeface="新細明體" pitchFamily="18" charset="-120"/>
              </a:rPr>
              <a:t>update_ssl</a:t>
            </a:r>
            <a:r>
              <a:rPr kumimoji="1" lang="zh-TW" altLang="zh-TW" sz="1000" b="0" i="0" u="none" strike="noStrike" cap="none" normalizeH="0" baseline="0" dirty="0" smtClean="0">
                <a:ln>
                  <a:noFill/>
                </a:ln>
                <a:solidFill>
                  <a:srgbClr val="1C1E21"/>
                </a:solidFill>
                <a:effectLst/>
                <a:latin typeface="Arial" pitchFamily="34" charset="0"/>
                <a:ea typeface="MaisonNeue-Medium"/>
                <a:cs typeface="新細明體" pitchFamily="18" charset="-120"/>
              </a:rPr>
              <a:t>/</a:t>
            </a:r>
            <a:r>
              <a:rPr kumimoji="1" lang="zh-TW" altLang="zh-TW" sz="1000" b="0" i="0" u="none" strike="noStrike" cap="none" normalizeH="0" baseline="0" dirty="0" smtClean="0">
                <a:ln>
                  <a:noFill/>
                </a:ln>
                <a:solidFill>
                  <a:srgbClr val="1C1E21"/>
                </a:solidFill>
                <a:effectLst/>
                <a:latin typeface="Arial Unicode MS" pitchFamily="34" charset="-120"/>
                <a:ea typeface="SFMono-Regular"/>
                <a:cs typeface="新細明體" pitchFamily="18" charset="-120"/>
              </a:rPr>
              <a:t>delete_ssl</a:t>
            </a:r>
            <a:r>
              <a:rPr kumimoji="1" lang="zh-TW" altLang="zh-TW" sz="1000" b="0" i="0" u="none" strike="noStrike" cap="none" normalizeH="0" baseline="0" dirty="0" smtClean="0">
                <a:ln>
                  <a:noFill/>
                </a:ln>
                <a:solidFill>
                  <a:srgbClr val="1C1E21"/>
                </a:solidFill>
                <a:effectLst/>
                <a:latin typeface="Arial" pitchFamily="34" charset="0"/>
                <a:ea typeface="MaisonNeue-Medium"/>
                <a:cs typeface="新細明體" pitchFamily="18" charset="-120"/>
              </a:rPr>
              <a:t>: </a:t>
            </a:r>
            <a:r>
              <a:rPr kumimoji="1" lang="zh-TW" sz="1000" b="0" i="0" u="none" strike="noStrike" cap="none" normalizeH="0" baseline="0" dirty="0" smtClean="0">
                <a:ln>
                  <a:noFill/>
                </a:ln>
                <a:solidFill>
                  <a:srgbClr val="1C1E21"/>
                </a:solidFill>
                <a:effectLst/>
                <a:latin typeface="Arial" pitchFamily="34" charset="0"/>
                <a:ea typeface="MaisonNeue-Medium"/>
                <a:cs typeface="新細明體" pitchFamily="18" charset="-120"/>
              </a:rPr>
              <a:t>管理</a:t>
            </a:r>
            <a:r>
              <a:rPr kumimoji="1" lang="zh-TW" altLang="zh-TW" sz="1000" b="0" i="0" u="none" strike="noStrike" cap="none" normalizeH="0" baseline="0" dirty="0" smtClean="0">
                <a:ln>
                  <a:noFill/>
                </a:ln>
                <a:solidFill>
                  <a:srgbClr val="1C1E21"/>
                </a:solidFill>
                <a:effectLst/>
                <a:latin typeface="Arial" pitchFamily="34" charset="0"/>
                <a:ea typeface="MaisonNeue-Medium"/>
                <a:cs typeface="新細明體" pitchFamily="18" charset="-120"/>
              </a:rPr>
              <a:t>SSL</a:t>
            </a:r>
            <a:r>
              <a:rPr kumimoji="1" lang="zh-TW" sz="1000" b="0" i="0" u="none" strike="noStrike" cap="none" normalizeH="0" baseline="0" dirty="0" smtClean="0">
                <a:ln>
                  <a:noFill/>
                </a:ln>
                <a:solidFill>
                  <a:srgbClr val="1C1E21"/>
                </a:solidFill>
                <a:effectLst/>
                <a:latin typeface="Arial" pitchFamily="34" charset="0"/>
                <a:ea typeface="MaisonNeue-Medium"/>
                <a:cs typeface="新細明體" pitchFamily="18" charset="-120"/>
              </a:rPr>
              <a:t>证书</a:t>
            </a:r>
          </a:p>
          <a:p>
            <a:pPr marL="0" marR="0" lvl="0" indent="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1" lang="zh-TW" altLang="zh-TW" sz="1000" b="0" i="0" u="none" strike="noStrike" cap="none" normalizeH="0" baseline="0" dirty="0" smtClean="0">
                <a:ln>
                  <a:noFill/>
                </a:ln>
                <a:solidFill>
                  <a:srgbClr val="1C1E21"/>
                </a:solidFill>
                <a:effectLst/>
                <a:latin typeface="Arial Unicode MS" pitchFamily="34" charset="-120"/>
                <a:ea typeface="SFMono-Regular"/>
                <a:cs typeface="新細明體" pitchFamily="18" charset="-120"/>
              </a:rPr>
              <a:t>create_or_update_proto</a:t>
            </a:r>
            <a:r>
              <a:rPr kumimoji="1" lang="zh-TW" altLang="zh-TW" sz="1000" b="0" i="0" u="none" strike="noStrike" cap="none" normalizeH="0" baseline="0" dirty="0" smtClean="0">
                <a:ln>
                  <a:noFill/>
                </a:ln>
                <a:solidFill>
                  <a:srgbClr val="1C1E21"/>
                </a:solidFill>
                <a:effectLst/>
                <a:latin typeface="Arial" pitchFamily="34" charset="0"/>
                <a:ea typeface="MaisonNeue-Medium"/>
                <a:cs typeface="新細明體" pitchFamily="18" charset="-120"/>
              </a:rPr>
              <a:t>: </a:t>
            </a:r>
            <a:r>
              <a:rPr kumimoji="1" lang="zh-TW" sz="1000" b="0" i="0" u="none" strike="noStrike" cap="none" normalizeH="0" baseline="0" dirty="0" smtClean="0">
                <a:ln>
                  <a:noFill/>
                </a:ln>
                <a:solidFill>
                  <a:srgbClr val="1C1E21"/>
                </a:solidFill>
                <a:effectLst/>
                <a:latin typeface="Arial" pitchFamily="34" charset="0"/>
                <a:ea typeface="MaisonNeue-Medium"/>
                <a:cs typeface="新細明體" pitchFamily="18" charset="-120"/>
              </a:rPr>
              <a:t>管理 </a:t>
            </a:r>
            <a:r>
              <a:rPr kumimoji="1" lang="zh-TW" altLang="zh-TW" sz="1000" b="0" i="0" u="none" strike="noStrike" cap="none" normalizeH="0" baseline="0" dirty="0" smtClean="0">
                <a:ln>
                  <a:noFill/>
                </a:ln>
                <a:solidFill>
                  <a:srgbClr val="1C1E21"/>
                </a:solidFill>
                <a:effectLst/>
                <a:latin typeface="Arial" pitchFamily="34" charset="0"/>
                <a:ea typeface="MaisonNeue-Medium"/>
                <a:cs typeface="新細明體" pitchFamily="18" charset="-120"/>
              </a:rPr>
              <a:t>protobuf </a:t>
            </a:r>
            <a:r>
              <a:rPr kumimoji="1" lang="zh-TW" sz="1000" b="0" i="0" u="none" strike="noStrike" cap="none" normalizeH="0" baseline="0" dirty="0" smtClean="0">
                <a:ln>
                  <a:noFill/>
                </a:ln>
                <a:solidFill>
                  <a:srgbClr val="1C1E21"/>
                </a:solidFill>
                <a:effectLst/>
                <a:latin typeface="Arial" pitchFamily="34" charset="0"/>
                <a:ea typeface="MaisonNeue-Medium"/>
                <a:cs typeface="新細明體" pitchFamily="18" charset="-120"/>
              </a:rPr>
              <a:t>定义</a:t>
            </a:r>
          </a:p>
          <a:p>
            <a:pPr marL="0" marR="0" lvl="0" indent="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1" lang="zh-TW" altLang="zh-TW" sz="1000" b="0" i="0" u="none" strike="noStrike" cap="none" normalizeH="0" baseline="0" dirty="0" smtClean="0">
                <a:ln>
                  <a:noFill/>
                </a:ln>
                <a:solidFill>
                  <a:srgbClr val="1C1E21"/>
                </a:solidFill>
                <a:effectLst/>
                <a:latin typeface="Arial Unicode MS" pitchFamily="34" charset="-120"/>
                <a:ea typeface="SFMono-Regular"/>
                <a:cs typeface="新細明體" pitchFamily="18" charset="-120"/>
              </a:rPr>
              <a:t>create_or_update_stream_route</a:t>
            </a:r>
            <a:r>
              <a:rPr kumimoji="1" lang="zh-TW" altLang="zh-TW" sz="1000" b="0" i="0" u="none" strike="noStrike" cap="none" normalizeH="0" baseline="0" dirty="0" smtClean="0">
                <a:ln>
                  <a:noFill/>
                </a:ln>
                <a:solidFill>
                  <a:srgbClr val="1C1E21"/>
                </a:solidFill>
                <a:effectLst/>
                <a:latin typeface="Arial" pitchFamily="34" charset="0"/>
                <a:ea typeface="MaisonNeue-Medium"/>
                <a:cs typeface="新細明體" pitchFamily="18" charset="-120"/>
              </a:rPr>
              <a:t>: </a:t>
            </a:r>
            <a:r>
              <a:rPr kumimoji="1" lang="zh-TW" sz="1000" b="0" i="0" u="none" strike="noStrike" cap="none" normalizeH="0" baseline="0" dirty="0" smtClean="0">
                <a:ln>
                  <a:noFill/>
                </a:ln>
                <a:solidFill>
                  <a:srgbClr val="1C1E21"/>
                </a:solidFill>
                <a:effectLst/>
                <a:latin typeface="Arial" pitchFamily="34" charset="0"/>
                <a:ea typeface="MaisonNeue-Medium"/>
                <a:cs typeface="新細明體" pitchFamily="18" charset="-120"/>
              </a:rPr>
              <a:t>管理流式路由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TW" sz="1000" b="1" i="0" u="none" strike="noStrike" cap="none" normalizeH="0" baseline="0" dirty="0" smtClean="0">
                <a:ln>
                  <a:noFill/>
                </a:ln>
                <a:solidFill>
                  <a:srgbClr val="1C1E21"/>
                </a:solidFill>
                <a:effectLst/>
                <a:latin typeface="Arial" pitchFamily="34" charset="0"/>
                <a:ea typeface="MaisonNeue-Medium"/>
                <a:cs typeface="新細明體" pitchFamily="18" charset="-120"/>
              </a:rPr>
              <a:t>插件操作</a:t>
            </a:r>
            <a:r>
              <a:rPr kumimoji="1" lang="zh-TW" sz="1000" b="1" i="0" u="none" strike="noStrike" cap="none" normalizeH="0" baseline="0" dirty="0" smtClean="0">
                <a:ln>
                  <a:noFill/>
                </a:ln>
                <a:solidFill>
                  <a:srgbClr val="E8433E"/>
                </a:solidFill>
                <a:effectLst/>
                <a:latin typeface="Arial" pitchFamily="34" charset="0"/>
                <a:ea typeface="MaisonNeue-Medium"/>
                <a:cs typeface="新細明體" pitchFamily="18" charset="-120"/>
                <a:hlinkClick r:id="rId5" tooltip="Direct link to heading"/>
              </a:rPr>
              <a:t>​</a:t>
            </a:r>
            <a:endParaRPr kumimoji="1" lang="zh-TW" sz="1000" b="1" i="0" u="none" strike="noStrike" cap="none" normalizeH="0" baseline="0" dirty="0" smtClean="0">
              <a:ln>
                <a:noFill/>
              </a:ln>
              <a:solidFill>
                <a:srgbClr val="1C1E21"/>
              </a:solidFill>
              <a:effectLst/>
              <a:latin typeface="Arial" pitchFamily="34" charset="0"/>
              <a:ea typeface="MaisonNeue-Medium"/>
              <a:cs typeface="新細明體" pitchFamily="18" charset="-120"/>
            </a:endParaRPr>
          </a:p>
          <a:p>
            <a:pPr marL="0" marR="0" lvl="0" indent="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1" lang="zh-TW" altLang="zh-TW" sz="1000" b="0" i="0" u="none" strike="noStrike" cap="none" normalizeH="0" baseline="0" dirty="0" smtClean="0">
                <a:ln>
                  <a:noFill/>
                </a:ln>
                <a:solidFill>
                  <a:srgbClr val="1C1E21"/>
                </a:solidFill>
                <a:effectLst/>
                <a:latin typeface="Arial Unicode MS" pitchFamily="34" charset="-120"/>
                <a:ea typeface="SFMono-Regular"/>
                <a:cs typeface="新細明體" pitchFamily="18" charset="-120"/>
              </a:rPr>
              <a:t>get_all_plugin_names</a:t>
            </a:r>
            <a:r>
              <a:rPr kumimoji="1" lang="zh-TW" altLang="zh-TW" sz="1000" b="0" i="0" u="none" strike="noStrike" cap="none" normalizeH="0" baseline="0" dirty="0" smtClean="0">
                <a:ln>
                  <a:noFill/>
                </a:ln>
                <a:solidFill>
                  <a:srgbClr val="1C1E21"/>
                </a:solidFill>
                <a:effectLst/>
                <a:latin typeface="Arial" pitchFamily="34" charset="0"/>
                <a:ea typeface="MaisonNeue-Medium"/>
                <a:cs typeface="新細明體" pitchFamily="18" charset="-120"/>
              </a:rPr>
              <a:t>: </a:t>
            </a:r>
            <a:r>
              <a:rPr kumimoji="1" lang="zh-TW" sz="1000" b="0" i="0" u="none" strike="noStrike" cap="none" normalizeH="0" baseline="0" dirty="0" smtClean="0">
                <a:ln>
                  <a:noFill/>
                </a:ln>
                <a:solidFill>
                  <a:srgbClr val="1C1E21"/>
                </a:solidFill>
                <a:effectLst/>
                <a:latin typeface="Arial" pitchFamily="34" charset="0"/>
                <a:ea typeface="MaisonNeue-Medium"/>
                <a:cs typeface="新細明體" pitchFamily="18" charset="-120"/>
              </a:rPr>
              <a:t>获取所有可用插件名称</a:t>
            </a:r>
          </a:p>
          <a:p>
            <a:pPr marL="0" marR="0" lvl="0" indent="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1" lang="zh-TW" altLang="zh-TW" sz="1000" b="0" i="0" u="none" strike="noStrike" cap="none" normalizeH="0" baseline="0" dirty="0" smtClean="0">
                <a:ln>
                  <a:noFill/>
                </a:ln>
                <a:solidFill>
                  <a:srgbClr val="1C1E21"/>
                </a:solidFill>
                <a:effectLst/>
                <a:latin typeface="Arial Unicode MS" pitchFamily="34" charset="-120"/>
                <a:ea typeface="SFMono-Regular"/>
                <a:cs typeface="新細明體" pitchFamily="18" charset="-120"/>
              </a:rPr>
              <a:t>get_plugin_info</a:t>
            </a:r>
            <a:r>
              <a:rPr kumimoji="1" lang="zh-TW" altLang="zh-TW" sz="1000" b="0" i="0" u="none" strike="noStrike" cap="none" normalizeH="0" baseline="0" dirty="0" smtClean="0">
                <a:ln>
                  <a:noFill/>
                </a:ln>
                <a:solidFill>
                  <a:srgbClr val="1C1E21"/>
                </a:solidFill>
                <a:effectLst/>
                <a:latin typeface="Arial" pitchFamily="34" charset="0"/>
                <a:ea typeface="MaisonNeue-Medium"/>
                <a:cs typeface="新細明體" pitchFamily="18" charset="-120"/>
              </a:rPr>
              <a:t>/</a:t>
            </a:r>
            <a:r>
              <a:rPr kumimoji="1" lang="zh-TW" altLang="zh-TW" sz="1000" b="0" i="0" u="none" strike="noStrike" cap="none" normalizeH="0" baseline="0" dirty="0" smtClean="0">
                <a:ln>
                  <a:noFill/>
                </a:ln>
                <a:solidFill>
                  <a:srgbClr val="1C1E21"/>
                </a:solidFill>
                <a:effectLst/>
                <a:latin typeface="Arial Unicode MS" pitchFamily="34" charset="-120"/>
                <a:ea typeface="SFMono-Regular"/>
                <a:cs typeface="新細明體" pitchFamily="18" charset="-120"/>
              </a:rPr>
              <a:t>get_plugins_by_type</a:t>
            </a:r>
            <a:r>
              <a:rPr kumimoji="1" lang="zh-TW" altLang="zh-TW" sz="1000" b="0" i="0" u="none" strike="noStrike" cap="none" normalizeH="0" baseline="0" dirty="0" smtClean="0">
                <a:ln>
                  <a:noFill/>
                </a:ln>
                <a:solidFill>
                  <a:srgbClr val="1C1E21"/>
                </a:solidFill>
                <a:effectLst/>
                <a:latin typeface="Arial" pitchFamily="34" charset="0"/>
                <a:ea typeface="MaisonNeue-Medium"/>
                <a:cs typeface="新細明體" pitchFamily="18" charset="-120"/>
              </a:rPr>
              <a:t>/</a:t>
            </a:r>
            <a:r>
              <a:rPr kumimoji="1" lang="zh-TW" altLang="zh-TW" sz="1000" b="0" i="0" u="none" strike="noStrike" cap="none" normalizeH="0" baseline="0" dirty="0" smtClean="0">
                <a:ln>
                  <a:noFill/>
                </a:ln>
                <a:solidFill>
                  <a:srgbClr val="1C1E21"/>
                </a:solidFill>
                <a:effectLst/>
                <a:latin typeface="Arial Unicode MS" pitchFamily="34" charset="-120"/>
                <a:ea typeface="SFMono-Regular"/>
                <a:cs typeface="新細明體" pitchFamily="18" charset="-120"/>
              </a:rPr>
              <a:t>get_plugin_schema</a:t>
            </a:r>
            <a:r>
              <a:rPr kumimoji="1" lang="zh-TW" altLang="zh-TW" sz="1000" b="0" i="0" u="none" strike="noStrike" cap="none" normalizeH="0" baseline="0" dirty="0" smtClean="0">
                <a:ln>
                  <a:noFill/>
                </a:ln>
                <a:solidFill>
                  <a:srgbClr val="1C1E21"/>
                </a:solidFill>
                <a:effectLst/>
                <a:latin typeface="Arial" pitchFamily="34" charset="0"/>
                <a:ea typeface="MaisonNeue-Medium"/>
                <a:cs typeface="新細明體" pitchFamily="18" charset="-120"/>
              </a:rPr>
              <a:t>: </a:t>
            </a:r>
            <a:r>
              <a:rPr kumimoji="1" lang="zh-TW" sz="1000" b="0" i="0" u="none" strike="noStrike" cap="none" normalizeH="0" baseline="0" dirty="0" smtClean="0">
                <a:ln>
                  <a:noFill/>
                </a:ln>
                <a:solidFill>
                  <a:srgbClr val="1C1E21"/>
                </a:solidFill>
                <a:effectLst/>
                <a:latin typeface="Arial" pitchFamily="34" charset="0"/>
                <a:ea typeface="MaisonNeue-Medium"/>
                <a:cs typeface="新細明體" pitchFamily="18" charset="-120"/>
              </a:rPr>
              <a:t>获取插件配置</a:t>
            </a:r>
          </a:p>
          <a:p>
            <a:pPr marL="0" marR="0" lvl="0" indent="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1" lang="zh-TW" altLang="zh-TW" sz="1000" b="0" i="0" u="none" strike="noStrike" cap="none" normalizeH="0" baseline="0" dirty="0" smtClean="0">
                <a:ln>
                  <a:noFill/>
                </a:ln>
                <a:solidFill>
                  <a:srgbClr val="1C1E21"/>
                </a:solidFill>
                <a:effectLst/>
                <a:latin typeface="Arial Unicode MS" pitchFamily="34" charset="-120"/>
                <a:ea typeface="SFMono-Regular"/>
                <a:cs typeface="新細明體" pitchFamily="18" charset="-120"/>
              </a:rPr>
              <a:t>create_plugin_config</a:t>
            </a:r>
            <a:r>
              <a:rPr kumimoji="1" lang="zh-TW" altLang="zh-TW" sz="1000" b="0" i="0" u="none" strike="noStrike" cap="none" normalizeH="0" baseline="0" dirty="0" smtClean="0">
                <a:ln>
                  <a:noFill/>
                </a:ln>
                <a:solidFill>
                  <a:srgbClr val="1C1E21"/>
                </a:solidFill>
                <a:effectLst/>
                <a:latin typeface="Arial" pitchFamily="34" charset="0"/>
                <a:ea typeface="MaisonNeue-Medium"/>
                <a:cs typeface="新細明體" pitchFamily="18" charset="-120"/>
              </a:rPr>
              <a:t>/</a:t>
            </a:r>
            <a:r>
              <a:rPr kumimoji="1" lang="zh-TW" altLang="zh-TW" sz="1000" b="0" i="0" u="none" strike="noStrike" cap="none" normalizeH="0" baseline="0" dirty="0" smtClean="0">
                <a:ln>
                  <a:noFill/>
                </a:ln>
                <a:solidFill>
                  <a:srgbClr val="1C1E21"/>
                </a:solidFill>
                <a:effectLst/>
                <a:latin typeface="Arial Unicode MS" pitchFamily="34" charset="-120"/>
                <a:ea typeface="SFMono-Regular"/>
                <a:cs typeface="新細明體" pitchFamily="18" charset="-120"/>
              </a:rPr>
              <a:t>update_plugin_config</a:t>
            </a:r>
            <a:r>
              <a:rPr kumimoji="1" lang="zh-TW" altLang="zh-TW" sz="1000" b="0" i="0" u="none" strike="noStrike" cap="none" normalizeH="0" baseline="0" dirty="0" smtClean="0">
                <a:ln>
                  <a:noFill/>
                </a:ln>
                <a:solidFill>
                  <a:srgbClr val="1C1E21"/>
                </a:solidFill>
                <a:effectLst/>
                <a:latin typeface="Arial" pitchFamily="34" charset="0"/>
                <a:ea typeface="MaisonNeue-Medium"/>
                <a:cs typeface="新細明體" pitchFamily="18" charset="-120"/>
              </a:rPr>
              <a:t>: </a:t>
            </a:r>
            <a:r>
              <a:rPr kumimoji="1" lang="zh-TW" sz="1000" b="0" i="0" u="none" strike="noStrike" cap="none" normalizeH="0" baseline="0" dirty="0" smtClean="0">
                <a:ln>
                  <a:noFill/>
                </a:ln>
                <a:solidFill>
                  <a:srgbClr val="1C1E21"/>
                </a:solidFill>
                <a:effectLst/>
                <a:latin typeface="Arial" pitchFamily="34" charset="0"/>
                <a:ea typeface="MaisonNeue-Medium"/>
                <a:cs typeface="新細明體" pitchFamily="18" charset="-120"/>
              </a:rPr>
              <a:t>管理插件配置</a:t>
            </a:r>
          </a:p>
          <a:p>
            <a:pPr marL="0" marR="0" lvl="0" indent="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1" lang="zh-TW" altLang="zh-TW" sz="1000" b="0" i="0" u="none" strike="noStrike" cap="none" normalizeH="0" baseline="0" dirty="0" smtClean="0">
                <a:ln>
                  <a:noFill/>
                </a:ln>
                <a:solidFill>
                  <a:srgbClr val="1C1E21"/>
                </a:solidFill>
                <a:effectLst/>
                <a:latin typeface="Arial Unicode MS" pitchFamily="34" charset="-120"/>
                <a:ea typeface="SFMono-Regular"/>
                <a:cs typeface="新細明體" pitchFamily="18" charset="-120"/>
              </a:rPr>
              <a:t>create_global_rule</a:t>
            </a:r>
            <a:r>
              <a:rPr kumimoji="1" lang="zh-TW" altLang="zh-TW" sz="1000" b="0" i="0" u="none" strike="noStrike" cap="none" normalizeH="0" baseline="0" dirty="0" smtClean="0">
                <a:ln>
                  <a:noFill/>
                </a:ln>
                <a:solidFill>
                  <a:srgbClr val="1C1E21"/>
                </a:solidFill>
                <a:effectLst/>
                <a:latin typeface="Arial" pitchFamily="34" charset="0"/>
                <a:ea typeface="MaisonNeue-Medium"/>
                <a:cs typeface="新細明體" pitchFamily="18" charset="-120"/>
              </a:rPr>
              <a:t>/</a:t>
            </a:r>
            <a:r>
              <a:rPr kumimoji="1" lang="zh-TW" altLang="zh-TW" sz="1000" b="0" i="0" u="none" strike="noStrike" cap="none" normalizeH="0" baseline="0" dirty="0" smtClean="0">
                <a:ln>
                  <a:noFill/>
                </a:ln>
                <a:solidFill>
                  <a:srgbClr val="1C1E21"/>
                </a:solidFill>
                <a:effectLst/>
                <a:latin typeface="Arial Unicode MS" pitchFamily="34" charset="-120"/>
                <a:ea typeface="SFMono-Regular"/>
                <a:cs typeface="新細明體" pitchFamily="18" charset="-120"/>
              </a:rPr>
              <a:t>update_global_rule</a:t>
            </a:r>
            <a:r>
              <a:rPr kumimoji="1" lang="zh-TW" altLang="zh-TW" sz="1000" b="0" i="0" u="none" strike="noStrike" cap="none" normalizeH="0" baseline="0" dirty="0" smtClean="0">
                <a:ln>
                  <a:noFill/>
                </a:ln>
                <a:solidFill>
                  <a:srgbClr val="1C1E21"/>
                </a:solidFill>
                <a:effectLst/>
                <a:latin typeface="Arial" pitchFamily="34" charset="0"/>
                <a:ea typeface="MaisonNeue-Medium"/>
                <a:cs typeface="新細明體" pitchFamily="18" charset="-120"/>
              </a:rPr>
              <a:t>: </a:t>
            </a:r>
            <a:r>
              <a:rPr kumimoji="1" lang="zh-TW" sz="1000" b="0" i="0" u="none" strike="noStrike" cap="none" normalizeH="0" baseline="0" dirty="0" smtClean="0">
                <a:ln>
                  <a:noFill/>
                </a:ln>
                <a:solidFill>
                  <a:srgbClr val="1C1E21"/>
                </a:solidFill>
                <a:effectLst/>
                <a:latin typeface="Arial" pitchFamily="34" charset="0"/>
                <a:ea typeface="MaisonNeue-Medium"/>
                <a:cs typeface="新細明體" pitchFamily="18" charset="-120"/>
              </a:rPr>
              <a:t>管理插件全局规则</a:t>
            </a:r>
          </a:p>
          <a:p>
            <a:pPr marL="0" marR="0" lvl="0" indent="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1" lang="zh-TW" altLang="zh-TW" sz="1000" b="0" i="0" u="none" strike="noStrike" cap="none" normalizeH="0" baseline="0" dirty="0" smtClean="0">
                <a:ln>
                  <a:noFill/>
                </a:ln>
                <a:solidFill>
                  <a:srgbClr val="1C1E21"/>
                </a:solidFill>
                <a:effectLst/>
                <a:latin typeface="Arial Unicode MS" pitchFamily="34" charset="-120"/>
                <a:ea typeface="SFMono-Regular"/>
                <a:cs typeface="新細明體" pitchFamily="18" charset="-120"/>
              </a:rPr>
              <a:t>get_plugin_metadata</a:t>
            </a:r>
            <a:r>
              <a:rPr kumimoji="1" lang="zh-TW" altLang="zh-TW" sz="1000" b="0" i="0" u="none" strike="noStrike" cap="none" normalizeH="0" baseline="0" dirty="0" smtClean="0">
                <a:ln>
                  <a:noFill/>
                </a:ln>
                <a:solidFill>
                  <a:srgbClr val="1C1E21"/>
                </a:solidFill>
                <a:effectLst/>
                <a:latin typeface="Arial" pitchFamily="34" charset="0"/>
                <a:ea typeface="MaisonNeue-Medium"/>
                <a:cs typeface="新細明體" pitchFamily="18" charset="-120"/>
              </a:rPr>
              <a:t>/</a:t>
            </a:r>
            <a:r>
              <a:rPr kumimoji="1" lang="zh-TW" altLang="zh-TW" sz="1000" b="0" i="0" u="none" strike="noStrike" cap="none" normalizeH="0" baseline="0" dirty="0" smtClean="0">
                <a:ln>
                  <a:noFill/>
                </a:ln>
                <a:solidFill>
                  <a:srgbClr val="1C1E21"/>
                </a:solidFill>
                <a:effectLst/>
                <a:latin typeface="Arial Unicode MS" pitchFamily="34" charset="-120"/>
                <a:ea typeface="SFMono-Regular"/>
                <a:cs typeface="新細明體" pitchFamily="18" charset="-120"/>
              </a:rPr>
              <a:t>create_or_update_plugin_metadata</a:t>
            </a:r>
            <a:r>
              <a:rPr kumimoji="1" lang="zh-TW" altLang="zh-TW" sz="1000" b="0" i="0" u="none" strike="noStrike" cap="none" normalizeH="0" baseline="0" dirty="0" smtClean="0">
                <a:ln>
                  <a:noFill/>
                </a:ln>
                <a:solidFill>
                  <a:srgbClr val="1C1E21"/>
                </a:solidFill>
                <a:effectLst/>
                <a:latin typeface="Arial" pitchFamily="34" charset="0"/>
                <a:ea typeface="MaisonNeue-Medium"/>
                <a:cs typeface="新細明體" pitchFamily="18" charset="-120"/>
              </a:rPr>
              <a:t>/</a:t>
            </a:r>
            <a:r>
              <a:rPr kumimoji="1" lang="zh-TW" altLang="zh-TW" sz="1000" b="0" i="0" u="none" strike="noStrike" cap="none" normalizeH="0" baseline="0" dirty="0" smtClean="0">
                <a:ln>
                  <a:noFill/>
                </a:ln>
                <a:solidFill>
                  <a:srgbClr val="1C1E21"/>
                </a:solidFill>
                <a:effectLst/>
                <a:latin typeface="Arial Unicode MS" pitchFamily="34" charset="-120"/>
                <a:ea typeface="SFMono-Regular"/>
                <a:cs typeface="新細明體" pitchFamily="18" charset="-120"/>
              </a:rPr>
              <a:t>delete_plugin_metadata</a:t>
            </a:r>
            <a:r>
              <a:rPr kumimoji="1" lang="zh-TW" altLang="zh-TW" sz="1000" b="0" i="0" u="none" strike="noStrike" cap="none" normalizeH="0" baseline="0" dirty="0" smtClean="0">
                <a:ln>
                  <a:noFill/>
                </a:ln>
                <a:solidFill>
                  <a:srgbClr val="1C1E21"/>
                </a:solidFill>
                <a:effectLst/>
                <a:latin typeface="Arial" pitchFamily="34" charset="0"/>
                <a:ea typeface="MaisonNeue-Medium"/>
                <a:cs typeface="新細明體" pitchFamily="18" charset="-120"/>
              </a:rPr>
              <a:t>: </a:t>
            </a:r>
            <a:r>
              <a:rPr kumimoji="1" lang="zh-TW" sz="1000" b="0" i="0" u="none" strike="noStrike" cap="none" normalizeH="0" baseline="0" dirty="0" smtClean="0">
                <a:ln>
                  <a:noFill/>
                </a:ln>
                <a:solidFill>
                  <a:srgbClr val="1C1E21"/>
                </a:solidFill>
                <a:effectLst/>
                <a:latin typeface="Arial" pitchFamily="34" charset="0"/>
                <a:ea typeface="MaisonNeue-Medium"/>
                <a:cs typeface="新細明體" pitchFamily="18" charset="-120"/>
              </a:rPr>
              <a:t>管理插件元数据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TW" sz="1000" b="1" i="0" u="none" strike="noStrike" cap="none" normalizeH="0" baseline="0" dirty="0" smtClean="0">
                <a:ln>
                  <a:noFill/>
                </a:ln>
                <a:solidFill>
                  <a:srgbClr val="1C1E21"/>
                </a:solidFill>
                <a:effectLst/>
                <a:latin typeface="Arial" pitchFamily="34" charset="0"/>
                <a:ea typeface="MaisonNeue-Medium"/>
                <a:cs typeface="新細明體" pitchFamily="18" charset="-120"/>
              </a:rPr>
              <a:t>安全配置</a:t>
            </a:r>
            <a:r>
              <a:rPr kumimoji="1" lang="zh-TW" sz="1000" b="1" i="0" u="none" strike="noStrike" cap="none" normalizeH="0" baseline="0" dirty="0" smtClean="0">
                <a:ln>
                  <a:noFill/>
                </a:ln>
                <a:solidFill>
                  <a:srgbClr val="E8433E"/>
                </a:solidFill>
                <a:effectLst/>
                <a:latin typeface="Arial" pitchFamily="34" charset="0"/>
                <a:ea typeface="MaisonNeue-Medium"/>
                <a:cs typeface="新細明體" pitchFamily="18" charset="-120"/>
                <a:hlinkClick r:id="rId6" tooltip="Direct link to heading"/>
              </a:rPr>
              <a:t>​</a:t>
            </a:r>
            <a:endParaRPr kumimoji="1" lang="zh-TW" sz="1000" b="1" i="0" u="none" strike="noStrike" cap="none" normalizeH="0" baseline="0" dirty="0" smtClean="0">
              <a:ln>
                <a:noFill/>
              </a:ln>
              <a:solidFill>
                <a:srgbClr val="1C1E21"/>
              </a:solidFill>
              <a:effectLst/>
              <a:latin typeface="Arial" pitchFamily="34" charset="0"/>
              <a:ea typeface="MaisonNeue-Medium"/>
              <a:cs typeface="新細明體" pitchFamily="18" charset="-120"/>
            </a:endParaRPr>
          </a:p>
          <a:p>
            <a:pPr marL="0" marR="0" lvl="0" indent="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1" lang="zh-TW" altLang="zh-TW" sz="1000" b="0" i="0" u="none" strike="noStrike" cap="none" normalizeH="0" baseline="0" dirty="0" smtClean="0">
                <a:ln>
                  <a:noFill/>
                </a:ln>
                <a:solidFill>
                  <a:srgbClr val="1C1E21"/>
                </a:solidFill>
                <a:effectLst/>
                <a:latin typeface="Arial Unicode MS" pitchFamily="34" charset="-120"/>
                <a:ea typeface="SFMono-Regular"/>
                <a:cs typeface="新細明體" pitchFamily="18" charset="-120"/>
              </a:rPr>
              <a:t>get_secret_by_id</a:t>
            </a:r>
            <a:r>
              <a:rPr kumimoji="1" lang="zh-TW" altLang="zh-TW" sz="1000" b="0" i="0" u="none" strike="noStrike" cap="none" normalizeH="0" baseline="0" dirty="0" smtClean="0">
                <a:ln>
                  <a:noFill/>
                </a:ln>
                <a:solidFill>
                  <a:srgbClr val="1C1E21"/>
                </a:solidFill>
                <a:effectLst/>
                <a:latin typeface="Arial" pitchFamily="34" charset="0"/>
                <a:ea typeface="MaisonNeue-Medium"/>
                <a:cs typeface="新細明體" pitchFamily="18" charset="-120"/>
              </a:rPr>
              <a:t>/</a:t>
            </a:r>
            <a:r>
              <a:rPr kumimoji="1" lang="zh-TW" altLang="zh-TW" sz="1000" b="0" i="0" u="none" strike="noStrike" cap="none" normalizeH="0" baseline="0" dirty="0" smtClean="0">
                <a:ln>
                  <a:noFill/>
                </a:ln>
                <a:solidFill>
                  <a:srgbClr val="1C1E21"/>
                </a:solidFill>
                <a:effectLst/>
                <a:latin typeface="Arial Unicode MS" pitchFamily="34" charset="-120"/>
                <a:ea typeface="SFMono-Regular"/>
                <a:cs typeface="新細明體" pitchFamily="18" charset="-120"/>
              </a:rPr>
              <a:t>create_secret</a:t>
            </a:r>
            <a:r>
              <a:rPr kumimoji="1" lang="zh-TW" altLang="zh-TW" sz="1000" b="0" i="0" u="none" strike="noStrike" cap="none" normalizeH="0" baseline="0" dirty="0" smtClean="0">
                <a:ln>
                  <a:noFill/>
                </a:ln>
                <a:solidFill>
                  <a:srgbClr val="1C1E21"/>
                </a:solidFill>
                <a:effectLst/>
                <a:latin typeface="Arial" pitchFamily="34" charset="0"/>
                <a:ea typeface="MaisonNeue-Medium"/>
                <a:cs typeface="新細明體" pitchFamily="18" charset="-120"/>
              </a:rPr>
              <a:t>/</a:t>
            </a:r>
            <a:r>
              <a:rPr kumimoji="1" lang="zh-TW" altLang="zh-TW" sz="1000" b="0" i="0" u="none" strike="noStrike" cap="none" normalizeH="0" baseline="0" dirty="0" smtClean="0">
                <a:ln>
                  <a:noFill/>
                </a:ln>
                <a:solidFill>
                  <a:srgbClr val="1C1E21"/>
                </a:solidFill>
                <a:effectLst/>
                <a:latin typeface="Arial Unicode MS" pitchFamily="34" charset="-120"/>
                <a:ea typeface="SFMono-Regular"/>
                <a:cs typeface="新細明體" pitchFamily="18" charset="-120"/>
              </a:rPr>
              <a:t>update_secret</a:t>
            </a:r>
            <a:r>
              <a:rPr kumimoji="1" lang="zh-TW" altLang="zh-TW" sz="1000" b="0" i="0" u="none" strike="noStrike" cap="none" normalizeH="0" baseline="0" dirty="0" smtClean="0">
                <a:ln>
                  <a:noFill/>
                </a:ln>
                <a:solidFill>
                  <a:srgbClr val="1C1E21"/>
                </a:solidFill>
                <a:effectLst/>
                <a:latin typeface="Arial" pitchFamily="34" charset="0"/>
                <a:ea typeface="MaisonNeue-Medium"/>
                <a:cs typeface="新細明體" pitchFamily="18" charset="-120"/>
              </a:rPr>
              <a:t>: </a:t>
            </a:r>
            <a:r>
              <a:rPr kumimoji="1" lang="zh-TW" sz="1000" b="0" i="0" u="none" strike="noStrike" cap="none" normalizeH="0" baseline="0" dirty="0" smtClean="0">
                <a:ln>
                  <a:noFill/>
                </a:ln>
                <a:solidFill>
                  <a:srgbClr val="1C1E21"/>
                </a:solidFill>
                <a:effectLst/>
                <a:latin typeface="Arial" pitchFamily="34" charset="0"/>
                <a:ea typeface="MaisonNeue-Medium"/>
                <a:cs typeface="新細明體" pitchFamily="18" charset="-120"/>
              </a:rPr>
              <a:t>管理密钥</a:t>
            </a:r>
          </a:p>
          <a:p>
            <a:pPr marL="0" marR="0" lvl="0" indent="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1" lang="zh-TW" altLang="zh-TW" sz="1000" b="0" i="0" u="none" strike="noStrike" cap="none" normalizeH="0" baseline="0" dirty="0" smtClean="0">
                <a:ln>
                  <a:noFill/>
                </a:ln>
                <a:solidFill>
                  <a:srgbClr val="1C1E21"/>
                </a:solidFill>
                <a:effectLst/>
                <a:latin typeface="Arial Unicode MS" pitchFamily="34" charset="-120"/>
                <a:ea typeface="SFMono-Regular"/>
                <a:cs typeface="新細明體" pitchFamily="18" charset="-120"/>
              </a:rPr>
              <a:t>create_or_update_consumer</a:t>
            </a:r>
            <a:r>
              <a:rPr kumimoji="1" lang="zh-TW" altLang="zh-TW" sz="1000" b="0" i="0" u="none" strike="noStrike" cap="none" normalizeH="0" baseline="0" dirty="0" smtClean="0">
                <a:ln>
                  <a:noFill/>
                </a:ln>
                <a:solidFill>
                  <a:srgbClr val="1C1E21"/>
                </a:solidFill>
                <a:effectLst/>
                <a:latin typeface="Arial" pitchFamily="34" charset="0"/>
                <a:ea typeface="MaisonNeue-Medium"/>
                <a:cs typeface="新細明體" pitchFamily="18" charset="-120"/>
              </a:rPr>
              <a:t>/</a:t>
            </a:r>
            <a:r>
              <a:rPr kumimoji="1" lang="zh-TW" altLang="zh-TW" sz="1000" b="0" i="0" u="none" strike="noStrike" cap="none" normalizeH="0" baseline="0" dirty="0" smtClean="0">
                <a:ln>
                  <a:noFill/>
                </a:ln>
                <a:solidFill>
                  <a:srgbClr val="1C1E21"/>
                </a:solidFill>
                <a:effectLst/>
                <a:latin typeface="Arial Unicode MS" pitchFamily="34" charset="-120"/>
                <a:ea typeface="SFMono-Regular"/>
                <a:cs typeface="新細明體" pitchFamily="18" charset="-120"/>
              </a:rPr>
              <a:t>delete_consumer</a:t>
            </a:r>
            <a:r>
              <a:rPr kumimoji="1" lang="zh-TW" altLang="zh-TW" sz="1000" b="0" i="0" u="none" strike="noStrike" cap="none" normalizeH="0" baseline="0" dirty="0" smtClean="0">
                <a:ln>
                  <a:noFill/>
                </a:ln>
                <a:solidFill>
                  <a:srgbClr val="1C1E21"/>
                </a:solidFill>
                <a:effectLst/>
                <a:latin typeface="Arial" pitchFamily="34" charset="0"/>
                <a:ea typeface="MaisonNeue-Medium"/>
                <a:cs typeface="新細明體" pitchFamily="18" charset="-120"/>
              </a:rPr>
              <a:t>: </a:t>
            </a:r>
            <a:r>
              <a:rPr kumimoji="1" lang="zh-TW" sz="1000" b="0" i="0" u="none" strike="noStrike" cap="none" normalizeH="0" baseline="0" dirty="0" smtClean="0">
                <a:ln>
                  <a:noFill/>
                </a:ln>
                <a:solidFill>
                  <a:srgbClr val="1C1E21"/>
                </a:solidFill>
                <a:effectLst/>
                <a:latin typeface="Arial" pitchFamily="34" charset="0"/>
                <a:ea typeface="MaisonNeue-Medium"/>
                <a:cs typeface="新細明體" pitchFamily="18" charset="-120"/>
              </a:rPr>
              <a:t>管理消费者</a:t>
            </a:r>
          </a:p>
          <a:p>
            <a:pPr marL="0" marR="0" lvl="0" indent="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1" lang="zh-TW" altLang="zh-TW" sz="1000" b="0" i="0" u="none" strike="noStrike" cap="none" normalizeH="0" baseline="0" dirty="0" smtClean="0">
                <a:ln>
                  <a:noFill/>
                </a:ln>
                <a:solidFill>
                  <a:srgbClr val="1C1E21"/>
                </a:solidFill>
                <a:effectLst/>
                <a:latin typeface="Arial Unicode MS" pitchFamily="34" charset="-120"/>
                <a:ea typeface="SFMono-Regular"/>
                <a:cs typeface="新細明體" pitchFamily="18" charset="-120"/>
              </a:rPr>
              <a:t>get_credential</a:t>
            </a:r>
            <a:r>
              <a:rPr kumimoji="1" lang="zh-TW" altLang="zh-TW" sz="1000" b="0" i="0" u="none" strike="noStrike" cap="none" normalizeH="0" baseline="0" dirty="0" smtClean="0">
                <a:ln>
                  <a:noFill/>
                </a:ln>
                <a:solidFill>
                  <a:srgbClr val="1C1E21"/>
                </a:solidFill>
                <a:effectLst/>
                <a:latin typeface="Arial" pitchFamily="34" charset="0"/>
                <a:ea typeface="MaisonNeue-Medium"/>
                <a:cs typeface="新細明體" pitchFamily="18" charset="-120"/>
              </a:rPr>
              <a:t>/</a:t>
            </a:r>
            <a:r>
              <a:rPr kumimoji="1" lang="zh-TW" altLang="zh-TW" sz="1000" b="0" i="0" u="none" strike="noStrike" cap="none" normalizeH="0" baseline="0" dirty="0" smtClean="0">
                <a:ln>
                  <a:noFill/>
                </a:ln>
                <a:solidFill>
                  <a:srgbClr val="1C1E21"/>
                </a:solidFill>
                <a:effectLst/>
                <a:latin typeface="Arial Unicode MS" pitchFamily="34" charset="-120"/>
                <a:ea typeface="SFMono-Regular"/>
                <a:cs typeface="新細明體" pitchFamily="18" charset="-120"/>
              </a:rPr>
              <a:t>create_or_update_credential</a:t>
            </a:r>
            <a:r>
              <a:rPr kumimoji="1" lang="zh-TW" altLang="zh-TW" sz="1000" b="0" i="0" u="none" strike="noStrike" cap="none" normalizeH="0" baseline="0" dirty="0" smtClean="0">
                <a:ln>
                  <a:noFill/>
                </a:ln>
                <a:solidFill>
                  <a:srgbClr val="1C1E21"/>
                </a:solidFill>
                <a:effectLst/>
                <a:latin typeface="Arial" pitchFamily="34" charset="0"/>
                <a:ea typeface="MaisonNeue-Medium"/>
                <a:cs typeface="新細明體" pitchFamily="18" charset="-120"/>
              </a:rPr>
              <a:t>/</a:t>
            </a:r>
            <a:r>
              <a:rPr kumimoji="1" lang="zh-TW" altLang="zh-TW" sz="1000" b="0" i="0" u="none" strike="noStrike" cap="none" normalizeH="0" baseline="0" dirty="0" smtClean="0">
                <a:ln>
                  <a:noFill/>
                </a:ln>
                <a:solidFill>
                  <a:srgbClr val="1C1E21"/>
                </a:solidFill>
                <a:effectLst/>
                <a:latin typeface="Arial Unicode MS" pitchFamily="34" charset="-120"/>
                <a:ea typeface="SFMono-Regular"/>
                <a:cs typeface="新細明體" pitchFamily="18" charset="-120"/>
              </a:rPr>
              <a:t>delete_credential</a:t>
            </a:r>
            <a:r>
              <a:rPr kumimoji="1" lang="zh-TW" altLang="zh-TW" sz="1000" b="0" i="0" u="none" strike="noStrike" cap="none" normalizeH="0" baseline="0" dirty="0" smtClean="0">
                <a:ln>
                  <a:noFill/>
                </a:ln>
                <a:solidFill>
                  <a:srgbClr val="1C1E21"/>
                </a:solidFill>
                <a:effectLst/>
                <a:latin typeface="Arial" pitchFamily="34" charset="0"/>
                <a:ea typeface="MaisonNeue-Medium"/>
                <a:cs typeface="新細明體" pitchFamily="18" charset="-120"/>
              </a:rPr>
              <a:t>: </a:t>
            </a:r>
            <a:r>
              <a:rPr kumimoji="1" lang="zh-TW" sz="1000" b="0" i="0" u="none" strike="noStrike" cap="none" normalizeH="0" baseline="0" dirty="0" smtClean="0">
                <a:ln>
                  <a:noFill/>
                </a:ln>
                <a:solidFill>
                  <a:srgbClr val="1C1E21"/>
                </a:solidFill>
                <a:effectLst/>
                <a:latin typeface="Arial" pitchFamily="34" charset="0"/>
                <a:ea typeface="MaisonNeue-Medium"/>
                <a:cs typeface="新細明體" pitchFamily="18" charset="-120"/>
              </a:rPr>
              <a:t>管理消费者凭证</a:t>
            </a:r>
          </a:p>
          <a:p>
            <a:pPr marL="0" marR="0" lvl="0" indent="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1" lang="zh-TW" altLang="zh-TW" sz="1000" b="0" i="0" u="none" strike="noStrike" cap="none" normalizeH="0" baseline="0" dirty="0" smtClean="0">
                <a:ln>
                  <a:noFill/>
                </a:ln>
                <a:solidFill>
                  <a:srgbClr val="1C1E21"/>
                </a:solidFill>
                <a:effectLst/>
                <a:latin typeface="Arial Unicode MS" pitchFamily="34" charset="-120"/>
                <a:ea typeface="SFMono-Regular"/>
                <a:cs typeface="新細明體" pitchFamily="18" charset="-120"/>
              </a:rPr>
              <a:t>create_consumer_group</a:t>
            </a:r>
            <a:r>
              <a:rPr kumimoji="1" lang="zh-TW" altLang="zh-TW" sz="1000" b="0" i="0" u="none" strike="noStrike" cap="none" normalizeH="0" baseline="0" dirty="0" smtClean="0">
                <a:ln>
                  <a:noFill/>
                </a:ln>
                <a:solidFill>
                  <a:srgbClr val="1C1E21"/>
                </a:solidFill>
                <a:effectLst/>
                <a:latin typeface="Arial" pitchFamily="34" charset="0"/>
                <a:ea typeface="MaisonNeue-Medium"/>
                <a:cs typeface="新細明體" pitchFamily="18" charset="-120"/>
              </a:rPr>
              <a:t>/</a:t>
            </a:r>
            <a:r>
              <a:rPr kumimoji="1" lang="zh-TW" altLang="zh-TW" sz="1000" b="0" i="0" u="none" strike="noStrike" cap="none" normalizeH="0" baseline="0" dirty="0" smtClean="0">
                <a:ln>
                  <a:noFill/>
                </a:ln>
                <a:solidFill>
                  <a:srgbClr val="1C1E21"/>
                </a:solidFill>
                <a:effectLst/>
                <a:latin typeface="Arial Unicode MS" pitchFamily="34" charset="-120"/>
                <a:ea typeface="SFMono-Regular"/>
                <a:cs typeface="新細明體" pitchFamily="18" charset="-120"/>
              </a:rPr>
              <a:t>delete_consumer_group</a:t>
            </a:r>
            <a:r>
              <a:rPr kumimoji="1" lang="zh-TW" altLang="zh-TW" sz="1000" b="0" i="0" u="none" strike="noStrike" cap="none" normalizeH="0" baseline="0" dirty="0" smtClean="0">
                <a:ln>
                  <a:noFill/>
                </a:ln>
                <a:solidFill>
                  <a:srgbClr val="1C1E21"/>
                </a:solidFill>
                <a:effectLst/>
                <a:latin typeface="Arial" pitchFamily="34" charset="0"/>
                <a:ea typeface="MaisonNeue-Medium"/>
                <a:cs typeface="新細明體" pitchFamily="18" charset="-120"/>
              </a:rPr>
              <a:t>: </a:t>
            </a:r>
            <a:r>
              <a:rPr kumimoji="1" lang="zh-TW" sz="1000" b="0" i="0" u="none" strike="noStrike" cap="none" normalizeH="0" baseline="0" dirty="0" smtClean="0">
                <a:ln>
                  <a:noFill/>
                </a:ln>
                <a:solidFill>
                  <a:srgbClr val="1C1E21"/>
                </a:solidFill>
                <a:effectLst/>
                <a:latin typeface="Arial" pitchFamily="34" charset="0"/>
                <a:ea typeface="MaisonNeue-Medium"/>
                <a:cs typeface="新細明體" pitchFamily="18" charset="-120"/>
              </a:rPr>
              <a:t>管理消费者组</a:t>
            </a:r>
            <a:endParaRPr kumimoji="1" lang="zh-TW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  <a:cs typeface="新細明體" pitchFamily="18" charset="-12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600" dirty="0" smtClean="0"/>
              <a:t>APISIX </a:t>
            </a:r>
            <a:r>
              <a:rPr lang="zh-TW" altLang="en-US" sz="3600" dirty="0" smtClean="0"/>
              <a:t>統一成 </a:t>
            </a:r>
            <a:r>
              <a:rPr lang="en-US" altLang="zh-TW" sz="3600" b="1" dirty="0" smtClean="0"/>
              <a:t>MCP </a:t>
            </a:r>
            <a:r>
              <a:rPr lang="zh-TW" altLang="en-US" sz="3600" b="1" dirty="0" smtClean="0"/>
              <a:t>伺服器</a:t>
            </a:r>
            <a:r>
              <a:rPr lang="zh-TW" altLang="en-US" sz="3600" dirty="0" smtClean="0"/>
              <a:t>供 </a:t>
            </a:r>
            <a:r>
              <a:rPr lang="en-US" altLang="zh-TW" sz="3600" dirty="0" smtClean="0"/>
              <a:t>AI </a:t>
            </a:r>
            <a:r>
              <a:rPr lang="zh-TW" altLang="en-US" sz="3600" dirty="0" smtClean="0"/>
              <a:t>應用使用</a:t>
            </a:r>
            <a:endParaRPr lang="zh-TW" altLang="en-US" sz="3600" dirty="0"/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1268760"/>
            <a:ext cx="5585518" cy="25202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843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7544" y="3861048"/>
            <a:ext cx="3847777" cy="27327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8436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779912" y="3861048"/>
            <a:ext cx="5076676" cy="2278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600" dirty="0" smtClean="0"/>
              <a:t>APISIX </a:t>
            </a:r>
            <a:r>
              <a:rPr lang="zh-TW" altLang="en-US" sz="3600" dirty="0" smtClean="0"/>
              <a:t>統一成 </a:t>
            </a:r>
            <a:r>
              <a:rPr lang="en-US" altLang="zh-TW" sz="3600" b="1" dirty="0" smtClean="0"/>
              <a:t>MCP </a:t>
            </a:r>
            <a:r>
              <a:rPr lang="zh-TW" altLang="en-US" sz="3600" b="1" dirty="0" smtClean="0"/>
              <a:t>伺服器</a:t>
            </a:r>
            <a:r>
              <a:rPr lang="zh-TW" altLang="en-US" sz="3600" dirty="0" smtClean="0"/>
              <a:t>供 </a:t>
            </a:r>
            <a:r>
              <a:rPr lang="en-US" altLang="zh-TW" sz="3600" dirty="0" smtClean="0"/>
              <a:t>AI </a:t>
            </a:r>
            <a:r>
              <a:rPr lang="zh-TW" altLang="en-US" sz="3600" dirty="0" smtClean="0"/>
              <a:t>應用使用</a:t>
            </a:r>
            <a:endParaRPr lang="zh-TW" altLang="en-US" sz="3600" dirty="0"/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1484784"/>
            <a:ext cx="6364287" cy="318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945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75013" y="2060848"/>
            <a:ext cx="5868987" cy="4581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矩形 7"/>
          <p:cNvSpPr/>
          <p:nvPr/>
        </p:nvSpPr>
        <p:spPr>
          <a:xfrm>
            <a:off x="251520" y="3284984"/>
            <a:ext cx="2952328" cy="1368152"/>
          </a:xfrm>
          <a:prstGeom prst="rect">
            <a:avLst/>
          </a:prstGeom>
          <a:noFill/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600" dirty="0" smtClean="0"/>
              <a:t>MCP Python-SDK</a:t>
            </a:r>
            <a:endParaRPr lang="zh-TW" altLang="en-US" sz="3600" dirty="0"/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7544" y="1372767"/>
            <a:ext cx="8280920" cy="51525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矩形 6"/>
          <p:cNvSpPr/>
          <p:nvPr/>
        </p:nvSpPr>
        <p:spPr>
          <a:xfrm>
            <a:off x="611560" y="2276872"/>
            <a:ext cx="2232248" cy="1440160"/>
          </a:xfrm>
          <a:prstGeom prst="rect">
            <a:avLst/>
          </a:prstGeom>
          <a:noFill/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/>
          <p:cNvSpPr/>
          <p:nvPr/>
        </p:nvSpPr>
        <p:spPr>
          <a:xfrm>
            <a:off x="4788024" y="2276872"/>
            <a:ext cx="2016224" cy="1872208"/>
          </a:xfrm>
          <a:prstGeom prst="rect">
            <a:avLst/>
          </a:prstGeom>
          <a:noFill/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向右箭號 9"/>
          <p:cNvSpPr/>
          <p:nvPr/>
        </p:nvSpPr>
        <p:spPr>
          <a:xfrm>
            <a:off x="2915816" y="2564904"/>
            <a:ext cx="1872208" cy="792088"/>
          </a:xfrm>
          <a:prstGeom prst="stripedRightArrow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1507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868144" y="3717032"/>
            <a:ext cx="567780" cy="5677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3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372200" y="1988840"/>
            <a:ext cx="567780" cy="5677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4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452320" y="4365104"/>
            <a:ext cx="567780" cy="5677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8" name="橢圓 17"/>
          <p:cNvSpPr/>
          <p:nvPr/>
        </p:nvSpPr>
        <p:spPr>
          <a:xfrm>
            <a:off x="5508104" y="3717032"/>
            <a:ext cx="288032" cy="266328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</a:rPr>
              <a:t>2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19" name="橢圓 18"/>
          <p:cNvSpPr/>
          <p:nvPr/>
        </p:nvSpPr>
        <p:spPr>
          <a:xfrm>
            <a:off x="6156176" y="2060848"/>
            <a:ext cx="288032" cy="266328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</a:rPr>
              <a:t>1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  <p:sp>
        <p:nvSpPr>
          <p:cNvPr id="20" name="橢圓 19"/>
          <p:cNvSpPr/>
          <p:nvPr/>
        </p:nvSpPr>
        <p:spPr>
          <a:xfrm>
            <a:off x="7380312" y="4149080"/>
            <a:ext cx="288032" cy="266328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</a:rPr>
              <a:t>3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600" dirty="0" err="1" smtClean="0"/>
              <a:t>claude</a:t>
            </a:r>
            <a:r>
              <a:rPr lang="en-US" altLang="zh-TW" sz="3600" dirty="0" smtClean="0"/>
              <a:t> desktop (AI Client)</a:t>
            </a:r>
            <a:endParaRPr lang="zh-TW" altLang="en-US" sz="3600" dirty="0"/>
          </a:p>
        </p:txBody>
      </p:sp>
      <p:pic>
        <p:nvPicPr>
          <p:cNvPr id="2048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1196752"/>
            <a:ext cx="4216751" cy="35529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484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483768" y="1772816"/>
            <a:ext cx="5061871" cy="21602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485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292080" y="3429000"/>
            <a:ext cx="3456384" cy="308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3600" dirty="0" smtClean="0"/>
              <a:t>組合多個 </a:t>
            </a:r>
            <a:r>
              <a:rPr lang="en-US" altLang="zh-TW" sz="3600" dirty="0" smtClean="0"/>
              <a:t>MCP Server</a:t>
            </a:r>
            <a:endParaRPr lang="zh-TW" altLang="en-US" sz="3600" dirty="0"/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504" y="1268760"/>
            <a:ext cx="3447285" cy="47241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253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63888" y="1196752"/>
            <a:ext cx="4563378" cy="55786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2532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012160" y="3429000"/>
            <a:ext cx="2970254" cy="32739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600" dirty="0" smtClean="0"/>
              <a:t>MCP Proxy</a:t>
            </a:r>
            <a:endParaRPr lang="zh-TW" altLang="en-US" sz="3600" dirty="0"/>
          </a:p>
        </p:txBody>
      </p:sp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1196752"/>
            <a:ext cx="4676775" cy="2066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457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499992" y="1844824"/>
            <a:ext cx="4388586" cy="45811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600" dirty="0" smtClean="0"/>
              <a:t>vibe coding</a:t>
            </a:r>
            <a:endParaRPr lang="zh-TW" altLang="en-US" sz="3600" dirty="0"/>
          </a:p>
        </p:txBody>
      </p:sp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1340768"/>
            <a:ext cx="4254582" cy="41044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3556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32040" y="1340768"/>
            <a:ext cx="3943380" cy="52565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681</Words>
  <Application>Microsoft Office PowerPoint</Application>
  <PresentationFormat>如螢幕大小 (4:3)</PresentationFormat>
  <Paragraphs>48</Paragraphs>
  <Slides>10</Slides>
  <Notes>2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1" baseType="lpstr">
      <vt:lpstr>Office 佈景主題</vt:lpstr>
      <vt:lpstr>投影片 1</vt:lpstr>
      <vt:lpstr>mcp-bridge</vt:lpstr>
      <vt:lpstr>APISIX-MCP</vt:lpstr>
      <vt:lpstr>APISIX 統一成 MCP 伺服器供 AI 應用使用</vt:lpstr>
      <vt:lpstr>APISIX 統一成 MCP 伺服器供 AI 應用使用</vt:lpstr>
      <vt:lpstr>MCP Python-SDK</vt:lpstr>
      <vt:lpstr>claude desktop (AI Client)</vt:lpstr>
      <vt:lpstr>組合多個 MCP Server</vt:lpstr>
      <vt:lpstr>MCP Proxy</vt:lpstr>
      <vt:lpstr>vibe coding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Daniel Hsu</dc:creator>
  <cp:lastModifiedBy>Daniel Hsu</cp:lastModifiedBy>
  <cp:revision>44</cp:revision>
  <dcterms:created xsi:type="dcterms:W3CDTF">2025-11-09T12:55:35Z</dcterms:created>
  <dcterms:modified xsi:type="dcterms:W3CDTF">2025-11-09T14:19:02Z</dcterms:modified>
</cp:coreProperties>
</file>